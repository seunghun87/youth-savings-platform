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256" r:id="rId3"/>
    <p:sldId id="259" r:id="rId4"/>
    <p:sldId id="260" r:id="rId5"/>
    <p:sldId id="261" r:id="rId6"/>
    <p:sldId id="262" r:id="rId7"/>
    <p:sldId id="263" r:id="rId8"/>
    <p:sldId id="271" r:id="rId9"/>
    <p:sldId id="272" r:id="rId10"/>
    <p:sldId id="282" r:id="rId24"/>
    <p:sldId id="257" r:id="rId11"/>
    <p:sldId id="280" r:id="rId12"/>
    <p:sldId id="258" r:id="rId13"/>
    <p:sldId id="276" r:id="rId14"/>
    <p:sldId id="268" r:id="rId15"/>
    <p:sldId id="281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0DF"/>
    <a:srgbClr val="2E7D57"/>
    <a:srgbClr val="1D653F"/>
    <a:srgbClr val="74D29D"/>
    <a:srgbClr val="3FA36B"/>
    <a:srgbClr val="0F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4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gmin kang" userId="72dec98a7c212d08" providerId="LiveId" clId="{51700553-8330-4012-B4FB-2D0C9C299C84}"/>
    <pc:docChg chg="undo custSel modSld">
      <pc:chgData name="sengmin kang" userId="72dec98a7c212d08" providerId="LiveId" clId="{51700553-8330-4012-B4FB-2D0C9C299C84}" dt="2026-08-03T21:20:30.136" v="474" actId="20577"/>
      <pc:docMkLst>
        <pc:docMk/>
      </pc:docMkLst>
      <pc:sldChg chg="setBg">
        <pc:chgData name="sengmin kang" userId="72dec98a7c212d08" providerId="LiveId" clId="{51700553-8330-4012-B4FB-2D0C9C299C84}" dt="2026-08-03T19:22:33.752" v="1"/>
        <pc:sldMkLst>
          <pc:docMk/>
          <pc:sldMk cId="0" sldId="259"/>
        </pc:sldMkLst>
      </pc:sldChg>
      <pc:sldChg chg="modSp mod">
        <pc:chgData name="sengmin kang" userId="72dec98a7c212d08" providerId="LiveId" clId="{51700553-8330-4012-B4FB-2D0C9C299C84}" dt="2026-08-03T21:06:12.977" v="90" actId="1038"/>
        <pc:sldMkLst>
          <pc:docMk/>
          <pc:sldMk cId="0" sldId="268"/>
        </pc:sldMkLst>
        <pc:spChg chg="mod">
          <ac:chgData name="sengmin kang" userId="72dec98a7c212d08" providerId="LiveId" clId="{51700553-8330-4012-B4FB-2D0C9C299C84}" dt="2026-08-03T21:03:43.503" v="36" actId="1076"/>
          <ac:spMkLst>
            <pc:docMk/>
            <pc:sldMk cId="0" sldId="268"/>
            <ac:spMk id="37" creationId="{E519D35C-F71A-B3D3-DECA-6E2D32B7F7A6}"/>
          </ac:spMkLst>
        </pc:spChg>
        <pc:spChg chg="mod">
          <ac:chgData name="sengmin kang" userId="72dec98a7c212d08" providerId="LiveId" clId="{51700553-8330-4012-B4FB-2D0C9C299C84}" dt="2026-08-03T21:01:07.468" v="23" actId="1038"/>
          <ac:spMkLst>
            <pc:docMk/>
            <pc:sldMk cId="0" sldId="268"/>
            <ac:spMk id="67" creationId="{FBE66FDD-2461-4331-B637-74C1E280B25D}"/>
          </ac:spMkLst>
        </pc:spChg>
        <pc:grpChg chg="mod">
          <ac:chgData name="sengmin kang" userId="72dec98a7c212d08" providerId="LiveId" clId="{51700553-8330-4012-B4FB-2D0C9C299C84}" dt="2026-08-03T21:06:12.977" v="90" actId="1038"/>
          <ac:grpSpMkLst>
            <pc:docMk/>
            <pc:sldMk cId="0" sldId="268"/>
            <ac:grpSpMk id="70" creationId="{EBCA8E96-D237-E4BC-569F-3F1FA6CA6229}"/>
          </ac:grpSpMkLst>
        </pc:grpChg>
        <pc:grpChg chg="mod">
          <ac:chgData name="sengmin kang" userId="72dec98a7c212d08" providerId="LiveId" clId="{51700553-8330-4012-B4FB-2D0C9C299C84}" dt="2026-08-03T21:06:12.977" v="90" actId="1038"/>
          <ac:grpSpMkLst>
            <pc:docMk/>
            <pc:sldMk cId="0" sldId="268"/>
            <ac:grpSpMk id="71" creationId="{485187BC-94CC-5EE8-1500-63816CC4CC28}"/>
          </ac:grpSpMkLst>
        </pc:grpChg>
        <pc:grpChg chg="mod">
          <ac:chgData name="sengmin kang" userId="72dec98a7c212d08" providerId="LiveId" clId="{51700553-8330-4012-B4FB-2D0C9C299C84}" dt="2026-08-03T21:06:12.977" v="90" actId="1038"/>
          <ac:grpSpMkLst>
            <pc:docMk/>
            <pc:sldMk cId="0" sldId="268"/>
            <ac:grpSpMk id="75" creationId="{28DCE539-333B-ABDF-3B6F-C2F330E1A6F9}"/>
          </ac:grpSpMkLst>
        </pc:grpChg>
        <pc:picChg chg="mod">
          <ac:chgData name="sengmin kang" userId="72dec98a7c212d08" providerId="LiveId" clId="{51700553-8330-4012-B4FB-2D0C9C299C84}" dt="2026-08-03T21:03:43.503" v="36" actId="1076"/>
          <ac:picMkLst>
            <pc:docMk/>
            <pc:sldMk cId="0" sldId="268"/>
            <ac:picMk id="63" creationId="{03CA4286-7201-1F9E-E837-256B3070D490}"/>
          </ac:picMkLst>
        </pc:picChg>
      </pc:sldChg>
      <pc:sldChg chg="addSp delSp modSp mod">
        <pc:chgData name="sengmin kang" userId="72dec98a7c212d08" providerId="LiveId" clId="{51700553-8330-4012-B4FB-2D0C9C299C84}" dt="2026-08-03T21:20:30.136" v="474" actId="20577"/>
        <pc:sldMkLst>
          <pc:docMk/>
          <pc:sldMk cId="2579027171" sldId="281"/>
        </pc:sldMkLst>
        <pc:spChg chg="mod">
          <ac:chgData name="sengmin kang" userId="72dec98a7c212d08" providerId="LiveId" clId="{51700553-8330-4012-B4FB-2D0C9C299C84}" dt="2026-08-03T21:09:02.643" v="91"/>
          <ac:spMkLst>
            <pc:docMk/>
            <pc:sldMk cId="2579027171" sldId="281"/>
            <ac:spMk id="5" creationId="{E0B92B7D-AD1F-7530-2056-8152CDEC7ABC}"/>
          </ac:spMkLst>
        </pc:spChg>
        <pc:spChg chg="mod">
          <ac:chgData name="sengmin kang" userId="72dec98a7c212d08" providerId="LiveId" clId="{51700553-8330-4012-B4FB-2D0C9C299C84}" dt="2026-08-03T21:13:29.996" v="186" actId="113"/>
          <ac:spMkLst>
            <pc:docMk/>
            <pc:sldMk cId="2579027171" sldId="281"/>
            <ac:spMk id="6" creationId="{3B7D8139-9901-BF5C-D612-C885EC3B38AB}"/>
          </ac:spMkLst>
        </pc:spChg>
        <pc:spChg chg="mod">
          <ac:chgData name="sengmin kang" userId="72dec98a7c212d08" providerId="LiveId" clId="{51700553-8330-4012-B4FB-2D0C9C299C84}" dt="2026-08-03T21:16:43.722" v="457" actId="20577"/>
          <ac:spMkLst>
            <pc:docMk/>
            <pc:sldMk cId="2579027171" sldId="281"/>
            <ac:spMk id="7" creationId="{80C2ADEE-496D-46D9-9A42-85E2A320B28E}"/>
          </ac:spMkLst>
        </pc:spChg>
        <pc:spChg chg="mod">
          <ac:chgData name="sengmin kang" userId="72dec98a7c212d08" providerId="LiveId" clId="{51700553-8330-4012-B4FB-2D0C9C299C84}" dt="2026-08-03T21:14:18.519" v="190"/>
          <ac:spMkLst>
            <pc:docMk/>
            <pc:sldMk cId="2579027171" sldId="281"/>
            <ac:spMk id="11" creationId="{31067603-AAED-66C7-60CD-4E8208ACC38B}"/>
          </ac:spMkLst>
        </pc:spChg>
        <pc:spChg chg="mod">
          <ac:chgData name="sengmin kang" userId="72dec98a7c212d08" providerId="LiveId" clId="{51700553-8330-4012-B4FB-2D0C9C299C84}" dt="2026-08-03T21:15:53.048" v="214" actId="20577"/>
          <ac:spMkLst>
            <pc:docMk/>
            <pc:sldMk cId="2579027171" sldId="281"/>
            <ac:spMk id="12" creationId="{C89619B3-F7B6-42F2-5664-2E84437A0C08}"/>
          </ac:spMkLst>
        </pc:spChg>
        <pc:spChg chg="mod">
          <ac:chgData name="sengmin kang" userId="72dec98a7c212d08" providerId="LiveId" clId="{51700553-8330-4012-B4FB-2D0C9C299C84}" dt="2026-08-03T21:16:10.751" v="309" actId="20577"/>
          <ac:spMkLst>
            <pc:docMk/>
            <pc:sldMk cId="2579027171" sldId="281"/>
            <ac:spMk id="13" creationId="{C9DEB7F3-1DF4-8266-5C49-6B2C9873E56E}"/>
          </ac:spMkLst>
        </pc:spChg>
        <pc:spChg chg="add mod">
          <ac:chgData name="sengmin kang" userId="72dec98a7c212d08" providerId="LiveId" clId="{51700553-8330-4012-B4FB-2D0C9C299C84}" dt="2026-08-03T21:20:30.136" v="474" actId="20577"/>
          <ac:spMkLst>
            <pc:docMk/>
            <pc:sldMk cId="2579027171" sldId="281"/>
            <ac:spMk id="15" creationId="{8623B6FF-417F-BA97-D677-769E55A7B465}"/>
          </ac:spMkLst>
        </pc:spChg>
        <pc:grpChg chg="add mod">
          <ac:chgData name="sengmin kang" userId="72dec98a7c212d08" providerId="LiveId" clId="{51700553-8330-4012-B4FB-2D0C9C299C84}" dt="2026-08-03T21:13:43.383" v="189" actId="1076"/>
          <ac:grpSpMkLst>
            <pc:docMk/>
            <pc:sldMk cId="2579027171" sldId="281"/>
            <ac:grpSpMk id="4" creationId="{4D2FF121-CB96-792F-CA6E-F6B02C8C6942}"/>
          </ac:grpSpMkLst>
        </pc:grpChg>
        <pc:grpChg chg="add mod">
          <ac:chgData name="sengmin kang" userId="72dec98a7c212d08" providerId="LiveId" clId="{51700553-8330-4012-B4FB-2D0C9C299C84}" dt="2026-08-03T21:14:20.688" v="191" actId="1076"/>
          <ac:grpSpMkLst>
            <pc:docMk/>
            <pc:sldMk cId="2579027171" sldId="281"/>
            <ac:grpSpMk id="10" creationId="{4C416E3D-30C3-056E-FEEB-65664737A47F}"/>
          </ac:grpSpMkLst>
        </pc:grpChg>
        <pc:picChg chg="add mod">
          <ac:chgData name="sengmin kang" userId="72dec98a7c212d08" providerId="LiveId" clId="{51700553-8330-4012-B4FB-2D0C9C299C84}" dt="2026-08-03T21:14:27.593" v="193" actId="1076"/>
          <ac:picMkLst>
            <pc:docMk/>
            <pc:sldMk cId="2579027171" sldId="281"/>
            <ac:picMk id="9" creationId="{EC74679A-DA29-E6D6-9CA1-F2199CEA67C4}"/>
          </ac:picMkLst>
        </pc:picChg>
        <pc:picChg chg="del">
          <ac:chgData name="sengmin kang" userId="72dec98a7c212d08" providerId="LiveId" clId="{51700553-8330-4012-B4FB-2D0C9C299C84}" dt="2026-08-03T21:12:38.718" v="103" actId="478"/>
          <ac:picMkLst>
            <pc:docMk/>
            <pc:sldMk cId="2579027171" sldId="281"/>
            <ac:picMk id="63" creationId="{5981C775-688E-F59D-5451-890C3E33E6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19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4DC5-304A-4BD1-DFD8-EDA11713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14ADE-A1FD-BBEF-EB61-B9C3945AB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090C2-048C-10B7-85BA-C0C6CA792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D345C-C01E-1917-8CC0-80C8CDF61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0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AFF6-F963-073E-7251-09C5C53F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B515E-855A-B3AF-D5CD-B5D6A793A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A0D43-5879-720A-6D32-5778A5B3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C56B-633A-0DB0-8E2C-DBFE93FD4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4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2B80-9E53-8D31-2CD9-BE5307E3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F4968-0FA1-CBBD-44FE-E6080161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60268-CB79-DF1A-8AFE-A2EAE4E20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9C4A-D8FA-341D-A263-76B5B48AF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33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5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D888-77B8-3172-CFC4-EF2217B2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FC979-5424-0F32-9E64-0130CAFEA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D6A38-630E-7793-E1DE-70DAB0F8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99045-09AB-F424-78BF-F082616F2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4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D1A883-F89E-5709-C6B1-B4BDC4D7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1CCA6-88AE-4B02-B11B-FC4CD4106018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D74FA1-CE6A-C096-3264-EA73F334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F4BBA-8041-309C-63A2-AA308FB4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CB29-8497-4119-A208-DB095DBD8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26D49-D0CF-531E-F632-45F33FA7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469E4-5F97-F0F0-63DC-D461B2202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AA22E3-30D2-03C7-FB6C-974302E6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1CCA6-88AE-4B02-B11B-FC4CD4106018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44887-AC48-762E-826A-F2906F96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50024-9A64-775D-E81F-7F1B9E01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CB29-8497-4119-A208-DB095DBD8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2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37309DC-C41D-EC6E-CEC0-CE539238EA2A}"/>
              </a:ext>
            </a:extLst>
          </p:cNvPr>
          <p:cNvSpPr/>
          <p:nvPr/>
        </p:nvSpPr>
        <p:spPr>
          <a:xfrm>
            <a:off x="482484" y="447838"/>
            <a:ext cx="11296650" cy="1809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9ED36B3-97F1-2BBD-B592-8CD88853B15A}"/>
              </a:ext>
            </a:extLst>
          </p:cNvPr>
          <p:cNvSpPr txBox="1">
            <a:spLocks/>
          </p:cNvSpPr>
          <p:nvPr/>
        </p:nvSpPr>
        <p:spPr>
          <a:xfrm>
            <a:off x="667974" y="465486"/>
            <a:ext cx="8761413" cy="74418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altLang="ko-KR" sz="2600" b="1" dirty="0">
                <a:solidFill>
                  <a:schemeClr val="bg1"/>
                </a:solidFill>
                <a:latin typeface="맑은 고딕"/>
                <a:ea typeface="맑은 고딕"/>
              </a:rPr>
              <a:t>2026-</a:t>
            </a:r>
            <a:r>
              <a:rPr lang="ko-KR" altLang="en-US" sz="2600" b="1" dirty="0">
                <a:solidFill>
                  <a:schemeClr val="bg1"/>
                </a:solidFill>
                <a:latin typeface="맑은 고딕"/>
                <a:ea typeface="맑은 고딕"/>
              </a:rPr>
              <a:t>하계 </a:t>
            </a:r>
            <a:r>
              <a:rPr lang="ko-KR" altLang="en-US" sz="2600" b="1" dirty="0" err="1">
                <a:solidFill>
                  <a:schemeClr val="bg1"/>
                </a:solidFill>
                <a:latin typeface="맑은 고딕"/>
                <a:ea typeface="맑은 고딕"/>
              </a:rPr>
              <a:t>세종창의학기제</a:t>
            </a:r>
            <a:r>
              <a:rPr lang="en-US" altLang="ko-KR" sz="2600" b="1" dirty="0">
                <a:solidFill>
                  <a:schemeClr val="bg1"/>
                </a:solidFill>
                <a:latin typeface="맑은 고딕"/>
                <a:ea typeface="맑은 고딕"/>
              </a:rPr>
              <a:t>(</a:t>
            </a:r>
            <a:r>
              <a:rPr lang="ko-KR" altLang="en-US" sz="2600" b="1" dirty="0" err="1">
                <a:solidFill>
                  <a:schemeClr val="bg1"/>
                </a:solidFill>
                <a:latin typeface="맑은 고딕"/>
                <a:ea typeface="맑은 고딕"/>
              </a:rPr>
              <a:t>집중이수제</a:t>
            </a:r>
            <a:r>
              <a:rPr lang="en-US" altLang="ko-KR" sz="2600" b="1" dirty="0">
                <a:solidFill>
                  <a:schemeClr val="bg1"/>
                </a:solidFill>
                <a:latin typeface="맑은 고딕"/>
                <a:ea typeface="맑은 고딕"/>
              </a:rPr>
              <a:t>)</a:t>
            </a:r>
            <a:r>
              <a:rPr lang="ko-KR" altLang="en-US" sz="2600" b="1" dirty="0">
                <a:solidFill>
                  <a:schemeClr val="bg1"/>
                </a:solidFill>
                <a:latin typeface="맑은 고딕"/>
                <a:ea typeface="맑은 고딕"/>
              </a:rPr>
              <a:t> 최종성과보고</a:t>
            </a:r>
            <a:endParaRPr lang="ko-KR" altLang="en-US" sz="3200" b="1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525EC-4892-321C-431B-8B4070B186C9}"/>
              </a:ext>
            </a:extLst>
          </p:cNvPr>
          <p:cNvSpPr txBox="1">
            <a:spLocks/>
          </p:cNvSpPr>
          <p:nvPr/>
        </p:nvSpPr>
        <p:spPr>
          <a:xfrm>
            <a:off x="1330209" y="2753667"/>
            <a:ext cx="9601200" cy="247442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dirty="0">
                <a:latin typeface="맑은 고딕"/>
                <a:ea typeface="맑은 고딕"/>
              </a:rPr>
              <a:t>과목명</a:t>
            </a:r>
            <a:r>
              <a:rPr lang="en-US" altLang="ko-KR" dirty="0">
                <a:latin typeface="맑은 고딕"/>
                <a:ea typeface="맑은 고딕"/>
              </a:rPr>
              <a:t>(</a:t>
            </a:r>
            <a:r>
              <a:rPr lang="ko-KR" altLang="en-US" dirty="0">
                <a:latin typeface="맑은 고딕"/>
                <a:ea typeface="맑은 고딕"/>
              </a:rPr>
              <a:t>신청 학점</a:t>
            </a:r>
            <a:r>
              <a:rPr lang="en-US" altLang="ko-KR" dirty="0">
                <a:latin typeface="맑은 고딕"/>
                <a:ea typeface="맑은 고딕"/>
              </a:rPr>
              <a:t>)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자기주도창의전공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Ⅰ (3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학점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(</a:t>
            </a:r>
            <a:r>
              <a:rPr lang="ko-KR" altLang="en-US" dirty="0"/>
              <a:t>소속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나중채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교수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/>
              <a:t>참여학생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총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명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                      유승훈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25012971) 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채현웅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25012845)</a:t>
            </a:r>
          </a:p>
          <a:p>
            <a:pPr marL="0" indent="0">
              <a:lnSpc>
                <a:spcPts val="1300"/>
              </a:lnSpc>
              <a:buFont typeface="Arial" panose="020B0604020202020204" pitchFamily="34" charset="0"/>
              <a:buNone/>
              <a:defRPr/>
            </a:pPr>
            <a:r>
              <a:rPr lang="en-US" altLang="ko-KR" dirty="0"/>
              <a:t>                      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강승민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컴퓨터공학과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25012305)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135D2F-1684-39BC-3C3E-2DD3425EF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4349" y="6165451"/>
            <a:ext cx="320199" cy="320199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7E1171BB-49FB-4100-9B86-0A0E81833400}"/>
              </a:ext>
            </a:extLst>
          </p:cNvPr>
          <p:cNvSpPr txBox="1"/>
          <p:nvPr/>
        </p:nvSpPr>
        <p:spPr>
          <a:xfrm>
            <a:off x="8494234" y="6146479"/>
            <a:ext cx="3284900" cy="33917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1800" b="1" dirty="0">
                <a:effectLst/>
              </a:rPr>
              <a:t>2026-</a:t>
            </a:r>
            <a:r>
              <a:rPr lang="ko-KR" altLang="en-US" sz="1800" b="1" dirty="0">
                <a:effectLst/>
              </a:rPr>
              <a:t>하계 세종창의학기제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55B9A86-9DDD-71A7-E126-33E3016248F6}"/>
              </a:ext>
            </a:extLst>
          </p:cNvPr>
          <p:cNvSpPr txBox="1">
            <a:spLocks/>
          </p:cNvSpPr>
          <p:nvPr/>
        </p:nvSpPr>
        <p:spPr>
          <a:xfrm>
            <a:off x="667974" y="1206322"/>
            <a:ext cx="10507300" cy="80650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맑은 고딕"/>
                <a:ea typeface="맑은 고딕"/>
              </a:rPr>
              <a:t>창의과제</a:t>
            </a:r>
            <a:r>
              <a:rPr lang="en-US" altLang="ko-KR" sz="1800" b="1" dirty="0">
                <a:solidFill>
                  <a:schemeClr val="bg1"/>
                </a:solidFill>
                <a:latin typeface="맑은 고딕"/>
                <a:ea typeface="맑은 고딕"/>
              </a:rPr>
              <a:t>: </a:t>
            </a:r>
            <a:r>
              <a:rPr lang="ko-KR" altLang="ko-KR" sz="2800" b="1" dirty="0">
                <a:solidFill>
                  <a:schemeClr val="bg1"/>
                </a:solidFill>
              </a:rPr>
              <a:t>청년들을 위한 최적화된 저축 플랫폼 개발 및 창</a:t>
            </a:r>
            <a:r>
              <a:rPr lang="ko-KR" altLang="en-US" sz="2800" b="1" dirty="0">
                <a:solidFill>
                  <a:schemeClr val="bg1"/>
                </a:solidFill>
              </a:rPr>
              <a:t>업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F3386D7-0D21-C456-C301-F485F06F8335}"/>
              </a:ext>
            </a:extLst>
          </p:cNvPr>
          <p:cNvCxnSpPr>
            <a:cxnSpLocks/>
          </p:cNvCxnSpPr>
          <p:nvPr/>
        </p:nvCxnSpPr>
        <p:spPr>
          <a:xfrm>
            <a:off x="482484" y="6067425"/>
            <a:ext cx="1129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부제목 2">
            <a:extLst>
              <a:ext uri="{FF2B5EF4-FFF2-40B4-BE49-F238E27FC236}">
                <a16:creationId xmlns:a16="http://schemas.microsoft.com/office/drawing/2014/main" id="{F4C1E26B-A545-3A0F-3C52-6D614CC0BABA}"/>
              </a:ext>
            </a:extLst>
          </p:cNvPr>
          <p:cNvSpPr txBox="1"/>
          <p:nvPr/>
        </p:nvSpPr>
        <p:spPr>
          <a:xfrm>
            <a:off x="834549" y="6146479"/>
            <a:ext cx="2051526" cy="33917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</a:t>
            </a:r>
            <a:endParaRPr lang="ko-KR" altLang="en-US" sz="1800" b="1" dirty="0">
              <a:effectLst/>
            </a:endParaRPr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D7D83EFE-0E63-1078-25F6-DA5E12B7D59C}"/>
              </a:ext>
            </a:extLst>
          </p:cNvPr>
          <p:cNvSpPr/>
          <p:nvPr/>
        </p:nvSpPr>
        <p:spPr>
          <a:xfrm rot="5400000">
            <a:off x="10290117" y="248121"/>
            <a:ext cx="1282584" cy="790574"/>
          </a:xfrm>
          <a:prstGeom prst="homePlat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62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A36B"/>
          </a:solidFill>
          <a:ln w="12700">
            <a:solidFill>
              <a:srgbClr val="3FA3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FA36B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5B4"/>
                </a:solidFill>
              </a:rPr>
              <a:t>IDENTIQ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76272" y="2416663"/>
            <a:ext cx="5019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F7F0DF"/>
                </a:solidFill>
              </a:rPr>
              <a:t>IDENTIQ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429833" y="315010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FA36B"/>
                </a:solidFill>
              </a:rPr>
              <a:t>최종</a:t>
            </a:r>
            <a:r>
              <a:rPr lang="en-US" sz="2400" b="1" dirty="0">
                <a:solidFill>
                  <a:srgbClr val="3FA36B"/>
                </a:solidFill>
              </a:rPr>
              <a:t> </a:t>
            </a:r>
            <a:r>
              <a:rPr lang="ko-KR" altLang="en-US" sz="2400" b="1" dirty="0">
                <a:solidFill>
                  <a:srgbClr val="3FA36B"/>
                </a:solidFill>
              </a:rPr>
              <a:t>발표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54445" y="336956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ko-KR" sz="1400" b="1" dirty="0">
                <a:solidFill>
                  <a:srgbClr val="F7F0DF"/>
                </a:solidFill>
              </a:rPr>
              <a:t>청년들을 위한 최적화된 저축 플랫폼 개발 및 창</a:t>
            </a:r>
            <a:r>
              <a:rPr lang="ko-KR" altLang="en-US" sz="1400" b="1" dirty="0">
                <a:solidFill>
                  <a:srgbClr val="F7F0DF"/>
                </a:solidFill>
              </a:rPr>
              <a:t>업</a:t>
            </a:r>
            <a:endParaRPr lang="en-US" sz="1400" b="1" dirty="0">
              <a:solidFill>
                <a:srgbClr val="F7F0DF"/>
              </a:solidFill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89559BE4-D8C2-3776-95F5-11260C28A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2"/>
          <a:stretch>
            <a:fillRect/>
          </a:stretch>
        </p:blipFill>
        <p:spPr>
          <a:xfrm rot="344203">
            <a:off x="8907542" y="660231"/>
            <a:ext cx="2304580" cy="508474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AF206C1-A667-6565-C320-04C01DA2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4203">
            <a:off x="7872714" y="941915"/>
            <a:ext cx="2304580" cy="5171851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712944C-8D51-C0E8-B34A-35746111B1AC}"/>
              </a:ext>
            </a:extLst>
          </p:cNvPr>
          <p:cNvCxnSpPr>
            <a:cxnSpLocks/>
          </p:cNvCxnSpPr>
          <p:nvPr/>
        </p:nvCxnSpPr>
        <p:spPr>
          <a:xfrm>
            <a:off x="1263316" y="3080084"/>
            <a:ext cx="0" cy="1004637"/>
          </a:xfrm>
          <a:prstGeom prst="line">
            <a:avLst/>
          </a:prstGeom>
          <a:ln w="28575">
            <a:solidFill>
              <a:srgbClr val="F7F0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FB2A4405-BA9A-6AD8-52D1-BE62AD9B9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84" b="50391" l="10000" r="90000">
                        <a14:foregroundMark x1="26981" y1="9180" x2="59811" y2="9082"/>
                        <a14:foregroundMark x1="25849" y1="50391" x2="50377" y2="49121"/>
                        <a14:foregroundMark x1="50377" y1="49121" x2="73774" y2="50098"/>
                      </a14:backgroundRemoval>
                    </a14:imgEffect>
                  </a14:imgLayer>
                </a14:imgProps>
              </a:ext>
            </a:extLst>
          </a:blip>
          <a:srcRect t="5177" b="44825"/>
          <a:stretch>
            <a:fillRect/>
          </a:stretch>
        </p:blipFill>
        <p:spPr>
          <a:xfrm>
            <a:off x="9226236" y="4186990"/>
            <a:ext cx="2073012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82880" y="29044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6261F"/>
                </a:solidFill>
                <a:latin typeface="+mj-ea"/>
                <a:ea typeface="+mj-ea"/>
              </a:rPr>
              <a:t>출발점</a:t>
            </a:r>
            <a:r>
              <a:rPr lang="en-US" sz="2800" b="1" dirty="0">
                <a:solidFill>
                  <a:srgbClr val="16261F"/>
                </a:solidFill>
                <a:latin typeface="+mj-ea"/>
                <a:ea typeface="+mj-ea"/>
              </a:rPr>
              <a:t> : 청년금융 정보는 복잡하다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592" y="723579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80" dirty="0">
                <a:solidFill>
                  <a:srgbClr val="6F776F"/>
                </a:solidFill>
                <a:latin typeface="+mj-ea"/>
                <a:ea typeface="+mj-ea"/>
              </a:rPr>
              <a:t>파편화된 금융 상품 속 우리는 최적의 선택을 하기 어렵다</a:t>
            </a:r>
            <a:r>
              <a:rPr lang="en-US" altLang="ko-KR" sz="1280" dirty="0">
                <a:solidFill>
                  <a:srgbClr val="6F776F"/>
                </a:solidFill>
                <a:latin typeface="+mj-ea"/>
                <a:ea typeface="+mj-ea"/>
              </a:rPr>
              <a:t>.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2880" y="1095114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5209" y="1969882"/>
            <a:ext cx="4914980" cy="1667455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15312" y="2371396"/>
            <a:ext cx="10262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40" b="1" dirty="0" err="1">
                <a:solidFill>
                  <a:srgbClr val="16261F"/>
                </a:solidFill>
                <a:latin typeface="+mj-ea"/>
                <a:ea typeface="+mj-ea"/>
                <a:cs typeface="Arial" panose="020B0604020202020204" pitchFamily="34" charset="0"/>
              </a:rPr>
              <a:t>정보</a:t>
            </a:r>
            <a:r>
              <a:rPr lang="en-US" sz="1440" b="1" dirty="0">
                <a:solidFill>
                  <a:srgbClr val="16261F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sz="1440" b="1" dirty="0" err="1">
                <a:solidFill>
                  <a:srgbClr val="16261F"/>
                </a:solidFill>
                <a:latin typeface="+mj-ea"/>
                <a:ea typeface="+mj-ea"/>
                <a:cs typeface="Arial" panose="020B0604020202020204" pitchFamily="34" charset="0"/>
              </a:rPr>
              <a:t>과부</a:t>
            </a:r>
            <a:r>
              <a:rPr lang="ko-KR" altLang="en-US" sz="1440" b="1" dirty="0">
                <a:solidFill>
                  <a:srgbClr val="16261F"/>
                </a:solidFill>
                <a:latin typeface="+mj-ea"/>
                <a:ea typeface="+mj-ea"/>
                <a:cs typeface="Arial" panose="020B0604020202020204" pitchFamily="34" charset="0"/>
              </a:rPr>
              <a:t>화</a:t>
            </a:r>
            <a:endParaRPr lang="en-US" sz="144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74370" y="2593598"/>
            <a:ext cx="2569464" cy="4149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sz="1030" dirty="0" err="1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정책</a:t>
            </a:r>
            <a:r>
              <a:rPr lang="en-US" sz="1030" dirty="0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 조건, 금리, 우대조건, 납입상태가 섞이면 사용자가 무엇을 먼저 봐야 할지 놓치기 쉽다.</a:t>
            </a:r>
            <a:endParaRPr lang="en-US" sz="103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33" name="그림 32" descr="정보 과부하, 오늘, 내 머리가 멈췄다 - 자그니 블로그">
            <a:extLst>
              <a:ext uri="{FF2B5EF4-FFF2-40B4-BE49-F238E27FC236}">
                <a16:creationId xmlns:a16="http://schemas.microsoft.com/office/drawing/2014/main" id="{82144590-0991-957C-4921-4472B43EE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90" y="2261165"/>
            <a:ext cx="1508999" cy="1079834"/>
          </a:xfrm>
          <a:prstGeom prst="rect">
            <a:avLst/>
          </a:prstGeom>
        </p:spPr>
      </p:pic>
      <p:sp>
        <p:nvSpPr>
          <p:cNvPr id="35" name="Shape 8">
            <a:extLst>
              <a:ext uri="{FF2B5EF4-FFF2-40B4-BE49-F238E27FC236}">
                <a16:creationId xmlns:a16="http://schemas.microsoft.com/office/drawing/2014/main" id="{BF94A43C-098A-0573-158E-F449EBCFF472}"/>
              </a:ext>
            </a:extLst>
          </p:cNvPr>
          <p:cNvSpPr/>
          <p:nvPr/>
        </p:nvSpPr>
        <p:spPr>
          <a:xfrm>
            <a:off x="825209" y="3856793"/>
            <a:ext cx="4914980" cy="1667455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3CA151EF-4F51-ACE7-52A8-6AB2C4F7F1B7}"/>
              </a:ext>
            </a:extLst>
          </p:cNvPr>
          <p:cNvSpPr/>
          <p:nvPr/>
        </p:nvSpPr>
        <p:spPr>
          <a:xfrm>
            <a:off x="2815310" y="4148076"/>
            <a:ext cx="2003181" cy="31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40" b="1" dirty="0">
                <a:solidFill>
                  <a:srgbClr val="16261F"/>
                </a:solidFill>
                <a:latin typeface="+mj-ea"/>
                <a:ea typeface="+mj-ea"/>
                <a:cs typeface="Arial" panose="020B0604020202020204" pitchFamily="34" charset="0"/>
              </a:rPr>
              <a:t>추천에서만 멈추는 기능</a:t>
            </a:r>
            <a:endParaRPr lang="en-US" sz="144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2FC1F7A6-B277-E392-A3AC-9EE2C563969A}"/>
              </a:ext>
            </a:extLst>
          </p:cNvPr>
          <p:cNvSpPr/>
          <p:nvPr/>
        </p:nvSpPr>
        <p:spPr>
          <a:xfrm>
            <a:off x="2974370" y="4480509"/>
            <a:ext cx="2674300" cy="4149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단순 추천 형식의 앱만으로는 우리가 현재 이 예 적금을 드는 것이 합리적인지 알기 어렵다</a:t>
            </a:r>
            <a:r>
              <a:rPr lang="en-US" altLang="ko-KR" sz="1000" dirty="0">
                <a:solidFill>
                  <a:srgbClr val="6F776F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lang="en-US" sz="10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42" name="그림 41" descr="효율성과 효과성의 차이">
            <a:extLst>
              <a:ext uri="{FF2B5EF4-FFF2-40B4-BE49-F238E27FC236}">
                <a16:creationId xmlns:a16="http://schemas.microsoft.com/office/drawing/2014/main" id="{FC0A1F52-9CDA-CC91-705C-09E6DECF0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290" y="4148076"/>
            <a:ext cx="1535782" cy="1047511"/>
          </a:xfrm>
          <a:prstGeom prst="rect">
            <a:avLst/>
          </a:prstGeom>
        </p:spPr>
      </p:pic>
      <p:sp>
        <p:nvSpPr>
          <p:cNvPr id="62" name="Shape 8">
            <a:extLst>
              <a:ext uri="{FF2B5EF4-FFF2-40B4-BE49-F238E27FC236}">
                <a16:creationId xmlns:a16="http://schemas.microsoft.com/office/drawing/2014/main" id="{37A51D60-4DF6-643F-1A93-3F6509DEE036}"/>
              </a:ext>
            </a:extLst>
          </p:cNvPr>
          <p:cNvSpPr/>
          <p:nvPr/>
        </p:nvSpPr>
        <p:spPr>
          <a:xfrm>
            <a:off x="6156082" y="1814673"/>
            <a:ext cx="5296420" cy="4001320"/>
          </a:xfrm>
          <a:prstGeom prst="roundRect">
            <a:avLst>
              <a:gd name="adj" fmla="val 6107"/>
            </a:avLst>
          </a:prstGeom>
          <a:noFill/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D6850320-C35C-42CF-5C1C-FB8CC26554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84" b="50391" l="10000" r="90000">
                        <a14:foregroundMark x1="26981" y1="9180" x2="59811" y2="9082"/>
                        <a14:foregroundMark x1="25849" y1="50391" x2="50377" y2="49121"/>
                        <a14:foregroundMark x1="50377" y1="49121" x2="73774" y2="50098"/>
                      </a14:backgroundRemoval>
                    </a14:imgEffect>
                  </a14:imgLayer>
                </a14:imgProps>
              </a:ext>
            </a:extLst>
          </a:blip>
          <a:srcRect t="5177" b="44825"/>
          <a:stretch>
            <a:fillRect/>
          </a:stretch>
        </p:blipFill>
        <p:spPr>
          <a:xfrm>
            <a:off x="7518374" y="2319699"/>
            <a:ext cx="2571836" cy="2484403"/>
          </a:xfrm>
          <a:prstGeom prst="rect">
            <a:avLst/>
          </a:prstGeom>
        </p:spPr>
      </p:pic>
      <p:sp>
        <p:nvSpPr>
          <p:cNvPr id="69" name="Text 10">
            <a:extLst>
              <a:ext uri="{FF2B5EF4-FFF2-40B4-BE49-F238E27FC236}">
                <a16:creationId xmlns:a16="http://schemas.microsoft.com/office/drawing/2014/main" id="{DD6DA7A4-4174-CC7F-F497-76566E85F6A9}"/>
              </a:ext>
            </a:extLst>
          </p:cNvPr>
          <p:cNvSpPr/>
          <p:nvPr/>
        </p:nvSpPr>
        <p:spPr>
          <a:xfrm>
            <a:off x="6313755" y="4611224"/>
            <a:ext cx="4981074" cy="116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3000" b="1" dirty="0">
                <a:solidFill>
                  <a:srgbClr val="1D653F"/>
                </a:solidFill>
                <a:latin typeface="+mj-ea"/>
                <a:ea typeface="+mj-ea"/>
                <a:cs typeface="Arial" panose="020B0604020202020204" pitchFamily="34" charset="0"/>
              </a:rPr>
              <a:t>정보 통합 </a:t>
            </a:r>
            <a:r>
              <a:rPr lang="en-US" altLang="ko-KR" sz="3000" b="1" dirty="0">
                <a:solidFill>
                  <a:srgbClr val="74D29D"/>
                </a:solidFill>
                <a:latin typeface="+mj-ea"/>
                <a:ea typeface="+mj-ea"/>
                <a:cs typeface="Arial" panose="020B0604020202020204" pitchFamily="34" charset="0"/>
              </a:rPr>
              <a:t>+</a:t>
            </a:r>
            <a:r>
              <a:rPr lang="en-US" altLang="ko-KR" sz="3000" b="1" dirty="0">
                <a:solidFill>
                  <a:srgbClr val="1D653F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3000" b="1" dirty="0">
                <a:solidFill>
                  <a:srgbClr val="1D653F"/>
                </a:solidFill>
                <a:latin typeface="+mj-ea"/>
                <a:ea typeface="+mj-ea"/>
                <a:cs typeface="Arial" panose="020B0604020202020204" pitchFamily="34" charset="0"/>
              </a:rPr>
              <a:t>내 플랜</a:t>
            </a:r>
            <a:endParaRPr lang="en-US" sz="3000" dirty="0">
              <a:solidFill>
                <a:srgbClr val="1D653F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8">
            <a:extLst>
              <a:ext uri="{FF2B5EF4-FFF2-40B4-BE49-F238E27FC236}">
                <a16:creationId xmlns:a16="http://schemas.microsoft.com/office/drawing/2014/main" id="{A06EFADD-ED33-99D8-F8F6-89007556C064}"/>
              </a:ext>
            </a:extLst>
          </p:cNvPr>
          <p:cNvSpPr/>
          <p:nvPr/>
        </p:nvSpPr>
        <p:spPr>
          <a:xfrm>
            <a:off x="8159738" y="2355903"/>
            <a:ext cx="2880517" cy="2087428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3FB4AE1-A93D-6E2D-9F6A-A3A8E15D284B}"/>
              </a:ext>
            </a:extLst>
          </p:cNvPr>
          <p:cNvSpPr/>
          <p:nvPr/>
        </p:nvSpPr>
        <p:spPr>
          <a:xfrm>
            <a:off x="4524357" y="2348057"/>
            <a:ext cx="2880517" cy="2087428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4D4FD75-EB90-7A51-3E40-6ACCF7D882AF}"/>
              </a:ext>
            </a:extLst>
          </p:cNvPr>
          <p:cNvSpPr/>
          <p:nvPr/>
        </p:nvSpPr>
        <p:spPr>
          <a:xfrm>
            <a:off x="821600" y="2325198"/>
            <a:ext cx="2880517" cy="2087428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6F"/>
                </a:solidFill>
              </a:rPr>
              <a:t>IDENTIQ · UI/UX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715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</a:rPr>
              <a:t>UI/UX 설계 기준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1046988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F776F"/>
                </a:solidFill>
              </a:rPr>
              <a:t>복잡한 금융 정보를 사용자가 판단할 수 있도록 세 가지 기준을 세웠습니다.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57200" y="1376172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5741" y="2708257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57"/>
                </a:solidFill>
              </a:rPr>
              <a:t>쉽게 보고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61461" y="3448921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필요한 정보만 먼저 보여주고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상세 조건은 뒤에서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3341" y="2708257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57"/>
                </a:solidFill>
              </a:rPr>
              <a:t>내 조건으로 고르고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19061" y="3448921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자격 충족 정책과 적금만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따로 볼 수 있게 구성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0941" y="2708257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57"/>
                </a:solidFill>
              </a:rPr>
              <a:t>행동으로 이어지게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176661" y="3448921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이번 달 납입 상태와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F776F"/>
                </a:solidFill>
              </a:rPr>
              <a:t>목표 달성률을 바로 확인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5733287"/>
            <a:ext cx="9738360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57"/>
                </a:solidFill>
              </a:rPr>
              <a:t>화면은 사용자가 다음에 무엇을 해야 하는지 알려주는 역할을 해야 한다.</a:t>
            </a:r>
            <a:endParaRPr lang="en-US" sz="2000" dirty="0">
              <a:solidFill>
                <a:srgbClr val="2E7D57"/>
              </a:solidFill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300519B-E770-E018-B89E-133CDBECA291}"/>
              </a:ext>
            </a:extLst>
          </p:cNvPr>
          <p:cNvSpPr/>
          <p:nvPr/>
        </p:nvSpPr>
        <p:spPr>
          <a:xfrm>
            <a:off x="655320" y="5354614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6080CE0-7BB0-5F0E-12DB-8B7142F7CD1C}"/>
              </a:ext>
            </a:extLst>
          </p:cNvPr>
          <p:cNvSpPr/>
          <p:nvPr/>
        </p:nvSpPr>
        <p:spPr>
          <a:xfrm>
            <a:off x="3958389" y="3235908"/>
            <a:ext cx="288758" cy="302663"/>
          </a:xfrm>
          <a:prstGeom prst="rightArrow">
            <a:avLst/>
          </a:prstGeom>
          <a:solidFill>
            <a:srgbClr val="1D65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05313CD-76AE-CAE7-1B77-E3002A406A59}"/>
              </a:ext>
            </a:extLst>
          </p:cNvPr>
          <p:cNvSpPr/>
          <p:nvPr/>
        </p:nvSpPr>
        <p:spPr>
          <a:xfrm>
            <a:off x="7623528" y="3277668"/>
            <a:ext cx="288758" cy="302663"/>
          </a:xfrm>
          <a:prstGeom prst="rightArrow">
            <a:avLst/>
          </a:prstGeom>
          <a:solidFill>
            <a:srgbClr val="1D65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6F"/>
                </a:solidFill>
              </a:rPr>
              <a:t>IDENTIQ · UI/UX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61326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</a:rPr>
              <a:t>결과물이 만들어진 개발 과정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88758" y="731520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F776F"/>
                </a:solidFill>
              </a:rPr>
              <a:t>기획 아이디어가 화면 구조, 기능, 검증 기준으로 바뀌는 흐름을 정리했습니다.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261326" y="1060704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95564" y="2286000"/>
            <a:ext cx="1874520" cy="1536192"/>
          </a:xfrm>
          <a:prstGeom prst="roundRect">
            <a:avLst>
              <a:gd name="adj" fmla="val 8929"/>
            </a:avLst>
          </a:prstGeom>
          <a:solidFill>
            <a:srgbClr val="FFF9EA"/>
          </a:solidFill>
          <a:ln w="1016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8444" y="2487168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D57"/>
                </a:solidFill>
              </a:rPr>
              <a:t>1</a:t>
            </a:r>
            <a:endParaRPr lang="en-US" sz="1050" b="1" dirty="0"/>
          </a:p>
        </p:txBody>
      </p:sp>
      <p:sp>
        <p:nvSpPr>
          <p:cNvPr id="12" name="Text 10"/>
          <p:cNvSpPr/>
          <p:nvPr/>
        </p:nvSpPr>
        <p:spPr>
          <a:xfrm>
            <a:off x="888172" y="282092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</a:rPr>
              <a:t>기획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796732" y="315468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6F"/>
                </a:solidFill>
              </a:rPr>
              <a:t>청년 자산관리 문제 정의</a:t>
            </a:r>
            <a:endParaRPr lang="en-US" sz="1000" b="1" dirty="0"/>
          </a:p>
        </p:txBody>
      </p:sp>
      <p:sp>
        <p:nvSpPr>
          <p:cNvPr id="15" name="Shape 13"/>
          <p:cNvSpPr/>
          <p:nvPr/>
        </p:nvSpPr>
        <p:spPr>
          <a:xfrm>
            <a:off x="2790124" y="3465576"/>
            <a:ext cx="1874520" cy="1536192"/>
          </a:xfrm>
          <a:prstGeom prst="roundRect">
            <a:avLst>
              <a:gd name="adj" fmla="val 8929"/>
            </a:avLst>
          </a:prstGeom>
          <a:solidFill>
            <a:srgbClr val="EAF3E7"/>
          </a:solidFill>
          <a:ln w="1016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973004" y="3666744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D57"/>
                </a:solidFill>
              </a:rPr>
              <a:t>2</a:t>
            </a:r>
            <a:endParaRPr lang="en-US" sz="1050" b="1" dirty="0"/>
          </a:p>
        </p:txBody>
      </p:sp>
      <p:sp>
        <p:nvSpPr>
          <p:cNvPr id="17" name="Text 15"/>
          <p:cNvSpPr/>
          <p:nvPr/>
        </p:nvSpPr>
        <p:spPr>
          <a:xfrm>
            <a:off x="3082732" y="399592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</a:rPr>
              <a:t>화면 흐름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2991292" y="4334256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6F"/>
                </a:solidFill>
              </a:rPr>
              <a:t>로그인 → 추천 → 플랜</a:t>
            </a:r>
            <a:endParaRPr lang="en-US" sz="1000" b="1" dirty="0"/>
          </a:p>
        </p:txBody>
      </p:sp>
      <p:sp>
        <p:nvSpPr>
          <p:cNvPr id="20" name="Shape 18"/>
          <p:cNvSpPr/>
          <p:nvPr/>
        </p:nvSpPr>
        <p:spPr>
          <a:xfrm>
            <a:off x="5052662" y="2304287"/>
            <a:ext cx="1874520" cy="1536192"/>
          </a:xfrm>
          <a:prstGeom prst="roundRect">
            <a:avLst>
              <a:gd name="adj" fmla="val 8929"/>
            </a:avLst>
          </a:prstGeom>
          <a:solidFill>
            <a:srgbClr val="FFF9EA"/>
          </a:solidFill>
          <a:ln w="1016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35542" y="2505455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D57"/>
                </a:solidFill>
              </a:rPr>
              <a:t>3</a:t>
            </a:r>
            <a:endParaRPr lang="en-US" sz="1050" b="1" dirty="0"/>
          </a:p>
        </p:txBody>
      </p:sp>
      <p:sp>
        <p:nvSpPr>
          <p:cNvPr id="22" name="Text 20"/>
          <p:cNvSpPr/>
          <p:nvPr/>
        </p:nvSpPr>
        <p:spPr>
          <a:xfrm>
            <a:off x="5345270" y="2834639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</a:rPr>
              <a:t>UI 구성</a:t>
            </a:r>
            <a:endParaRPr lang="en-US" sz="1600" b="1" dirty="0"/>
          </a:p>
        </p:txBody>
      </p:sp>
      <p:sp>
        <p:nvSpPr>
          <p:cNvPr id="23" name="Text 21"/>
          <p:cNvSpPr/>
          <p:nvPr/>
        </p:nvSpPr>
        <p:spPr>
          <a:xfrm>
            <a:off x="5253830" y="3172967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6F"/>
                </a:solidFill>
              </a:rPr>
              <a:t>홈·정책·적금·플랜·마이</a:t>
            </a:r>
            <a:endParaRPr lang="en-US" sz="1000" b="1" dirty="0"/>
          </a:p>
        </p:txBody>
      </p:sp>
      <p:sp>
        <p:nvSpPr>
          <p:cNvPr id="25" name="Shape 23"/>
          <p:cNvSpPr/>
          <p:nvPr/>
        </p:nvSpPr>
        <p:spPr>
          <a:xfrm>
            <a:off x="7315200" y="3456432"/>
            <a:ext cx="1874520" cy="1536192"/>
          </a:xfrm>
          <a:prstGeom prst="roundRect">
            <a:avLst>
              <a:gd name="adj" fmla="val 8929"/>
            </a:avLst>
          </a:prstGeom>
          <a:solidFill>
            <a:srgbClr val="EAF3E7"/>
          </a:solidFill>
          <a:ln w="1016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0" y="3657600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D57"/>
                </a:solidFill>
              </a:rPr>
              <a:t>4</a:t>
            </a:r>
            <a:endParaRPr lang="en-US" sz="1050" b="1" dirty="0"/>
          </a:p>
        </p:txBody>
      </p:sp>
      <p:sp>
        <p:nvSpPr>
          <p:cNvPr id="27" name="Text 25"/>
          <p:cNvSpPr/>
          <p:nvPr/>
        </p:nvSpPr>
        <p:spPr>
          <a:xfrm>
            <a:off x="7607808" y="39867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</a:rPr>
              <a:t>기능 연결</a:t>
            </a:r>
            <a:endParaRPr lang="en-US" sz="1600" b="1" dirty="0"/>
          </a:p>
        </p:txBody>
      </p:sp>
      <p:sp>
        <p:nvSpPr>
          <p:cNvPr id="28" name="Text 26"/>
          <p:cNvSpPr/>
          <p:nvPr/>
        </p:nvSpPr>
        <p:spPr>
          <a:xfrm>
            <a:off x="7516368" y="4325112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6F"/>
                </a:solidFill>
              </a:rPr>
              <a:t>필터·계산·상태 표시</a:t>
            </a:r>
            <a:endParaRPr lang="en-US" sz="1000" b="1" dirty="0"/>
          </a:p>
        </p:txBody>
      </p:sp>
      <p:sp>
        <p:nvSpPr>
          <p:cNvPr id="30" name="Shape 28"/>
          <p:cNvSpPr/>
          <p:nvPr/>
        </p:nvSpPr>
        <p:spPr>
          <a:xfrm>
            <a:off x="9509760" y="2281187"/>
            <a:ext cx="1874520" cy="1536192"/>
          </a:xfrm>
          <a:prstGeom prst="roundRect">
            <a:avLst>
              <a:gd name="adj" fmla="val 8929"/>
            </a:avLst>
          </a:prstGeom>
          <a:solidFill>
            <a:srgbClr val="FFF9EA"/>
          </a:solidFill>
          <a:ln w="1016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692640" y="2482355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7D57"/>
                </a:solidFill>
              </a:rPr>
              <a:t>5</a:t>
            </a:r>
            <a:endParaRPr lang="en-US" sz="1050" b="1" dirty="0"/>
          </a:p>
        </p:txBody>
      </p:sp>
      <p:sp>
        <p:nvSpPr>
          <p:cNvPr id="32" name="Text 30"/>
          <p:cNvSpPr/>
          <p:nvPr/>
        </p:nvSpPr>
        <p:spPr>
          <a:xfrm>
            <a:off x="9802368" y="2811539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</a:rPr>
              <a:t>검증</a:t>
            </a:r>
            <a:endParaRPr lang="en-US" sz="1600" b="1" dirty="0"/>
          </a:p>
        </p:txBody>
      </p:sp>
      <p:sp>
        <p:nvSpPr>
          <p:cNvPr id="33" name="Text 31"/>
          <p:cNvSpPr/>
          <p:nvPr/>
        </p:nvSpPr>
        <p:spPr>
          <a:xfrm>
            <a:off x="9710928" y="3149867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6F"/>
                </a:solidFill>
              </a:rPr>
              <a:t>테스트·빌드·시나리오</a:t>
            </a:r>
            <a:endParaRPr lang="en-US" sz="1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308249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</a:rPr>
              <a:t>최종 사용자 흐름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" y="783737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F776F"/>
                </a:solidFill>
              </a:rPr>
              <a:t>사용자가 앱에 들어와 자신의 조건에 맞는 금융·정책 정보를 확인하고 플랜으로 이어지는 구조입니다.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274320" y="1112921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A1FE96E1-B69A-3433-3616-8F8EF88A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53" y="2054426"/>
            <a:ext cx="2440155" cy="41752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AA4D4AB9-A9E3-6C2F-964D-23C7C0022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407" y="1825947"/>
            <a:ext cx="2076333" cy="4632158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C4BB90A5-F342-ECAB-6806-B40B9A5A1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839" y="1825947"/>
            <a:ext cx="2076333" cy="4632159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73CF143-0168-A430-56E9-25E370D62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271" y="1827602"/>
            <a:ext cx="2079246" cy="462884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B71E1E47-7F7D-928E-2710-E2D4132CD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617" y="1831998"/>
            <a:ext cx="2079245" cy="4620056"/>
          </a:xfrm>
          <a:prstGeom prst="rect">
            <a:avLst/>
          </a:prstGeom>
        </p:spPr>
      </p:pic>
      <p:sp>
        <p:nvSpPr>
          <p:cNvPr id="78" name="Shape 48">
            <a:extLst>
              <a:ext uri="{FF2B5EF4-FFF2-40B4-BE49-F238E27FC236}">
                <a16:creationId xmlns:a16="http://schemas.microsoft.com/office/drawing/2014/main" id="{A6DD4598-866E-0CC9-F6FD-D69E5F81B8EF}"/>
              </a:ext>
            </a:extLst>
          </p:cNvPr>
          <p:cNvSpPr/>
          <p:nvPr/>
        </p:nvSpPr>
        <p:spPr>
          <a:xfrm>
            <a:off x="495869" y="1269971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82" name="Shape 48">
            <a:extLst>
              <a:ext uri="{FF2B5EF4-FFF2-40B4-BE49-F238E27FC236}">
                <a16:creationId xmlns:a16="http://schemas.microsoft.com/office/drawing/2014/main" id="{4F550568-79F3-C63B-C8EF-290D8C5C9C26}"/>
              </a:ext>
            </a:extLst>
          </p:cNvPr>
          <p:cNvSpPr/>
          <p:nvPr/>
        </p:nvSpPr>
        <p:spPr>
          <a:xfrm>
            <a:off x="2888981" y="1272884"/>
            <a:ext cx="912188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맞춤형 추천을 위한 개인 정보 입력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31247" y="275523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</a:rPr>
              <a:t>주요 화면 산출물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8679" y="751011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F776F"/>
                </a:solidFill>
              </a:rPr>
              <a:t>앱 화면은 기능별로 나뉘지만 사용자의 목표 관리 흐름 안에서 연결되도록 설계했습니다.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231247" y="1080195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>
            <a:extLst>
              <a:ext uri="{FF2B5EF4-FFF2-40B4-BE49-F238E27FC236}">
                <a16:creationId xmlns:a16="http://schemas.microsoft.com/office/drawing/2014/main" id="{114F1DB5-95F0-F926-9824-4203B0BFC94F}"/>
              </a:ext>
            </a:extLst>
          </p:cNvPr>
          <p:cNvSpPr/>
          <p:nvPr/>
        </p:nvSpPr>
        <p:spPr>
          <a:xfrm>
            <a:off x="495869" y="1269971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홈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8ED026A2-E4A2-2A31-2EA0-A1792D58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57" y="1917479"/>
            <a:ext cx="1996543" cy="446684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DF6D513-AF8B-4BA9-EC8D-98710D1D9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841" y="1917479"/>
            <a:ext cx="1997989" cy="4466843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F302BAB-0700-6454-8D14-DCCF5847C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171" y="1917479"/>
            <a:ext cx="2010715" cy="446684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9BBE5F6-38DE-1D78-35E4-802916F10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227" y="1910146"/>
            <a:ext cx="2010714" cy="448150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3F7A210-54A2-07E5-3A71-A0C6832EC4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284" y="1910146"/>
            <a:ext cx="2008364" cy="4481508"/>
          </a:xfrm>
          <a:prstGeom prst="rect">
            <a:avLst/>
          </a:prstGeom>
        </p:spPr>
      </p:pic>
      <p:sp>
        <p:nvSpPr>
          <p:cNvPr id="65" name="Shape 48">
            <a:extLst>
              <a:ext uri="{FF2B5EF4-FFF2-40B4-BE49-F238E27FC236}">
                <a16:creationId xmlns:a16="http://schemas.microsoft.com/office/drawing/2014/main" id="{F554F85F-55C7-F17A-1586-E66C5B08C4A0}"/>
              </a:ext>
            </a:extLst>
          </p:cNvPr>
          <p:cNvSpPr/>
          <p:nvPr/>
        </p:nvSpPr>
        <p:spPr>
          <a:xfrm>
            <a:off x="2854474" y="1268825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적금 찾기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67" name="Shape 48">
            <a:extLst>
              <a:ext uri="{FF2B5EF4-FFF2-40B4-BE49-F238E27FC236}">
                <a16:creationId xmlns:a16="http://schemas.microsoft.com/office/drawing/2014/main" id="{5AA29417-5E1F-66D0-FF88-4BBC50D456BE}"/>
              </a:ext>
            </a:extLst>
          </p:cNvPr>
          <p:cNvSpPr/>
          <p:nvPr/>
        </p:nvSpPr>
        <p:spPr>
          <a:xfrm>
            <a:off x="5220167" y="1268825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내 플랜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69" name="Shape 48">
            <a:extLst>
              <a:ext uri="{FF2B5EF4-FFF2-40B4-BE49-F238E27FC236}">
                <a16:creationId xmlns:a16="http://schemas.microsoft.com/office/drawing/2014/main" id="{A17A81E9-149C-7BFB-BCE6-B6F58574F956}"/>
              </a:ext>
            </a:extLst>
          </p:cNvPr>
          <p:cNvSpPr/>
          <p:nvPr/>
        </p:nvSpPr>
        <p:spPr>
          <a:xfrm>
            <a:off x="7538807" y="1269971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혜택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71" name="Shape 48">
            <a:extLst>
              <a:ext uri="{FF2B5EF4-FFF2-40B4-BE49-F238E27FC236}">
                <a16:creationId xmlns:a16="http://schemas.microsoft.com/office/drawing/2014/main" id="{AAEDBABA-75EE-C4AA-7373-A2B42ED75019}"/>
              </a:ext>
            </a:extLst>
          </p:cNvPr>
          <p:cNvSpPr/>
          <p:nvPr/>
        </p:nvSpPr>
        <p:spPr>
          <a:xfrm>
            <a:off x="9963105" y="1268825"/>
            <a:ext cx="1798721" cy="409126"/>
          </a:xfrm>
          <a:prstGeom prst="roundRect">
            <a:avLst>
              <a:gd name="adj" fmla="val 22581"/>
            </a:avLst>
          </a:prstGeom>
          <a:solidFill>
            <a:srgbClr val="2E7D57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마이 페이지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508AC-E358-1560-A11B-84A0EF4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887C75-EE00-93AD-5397-A15066834E5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B79FEF-C719-76D5-4D92-EBFBB0B86816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21F331-EAF4-2391-84F7-977ED9DB3CD7}"/>
              </a:ext>
            </a:extLst>
          </p:cNvPr>
          <p:cNvSpPr/>
          <p:nvPr/>
        </p:nvSpPr>
        <p:spPr>
          <a:xfrm>
            <a:off x="231247" y="275523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</a:rPr>
              <a:t>주요 화면 산출물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270CC7-D0F5-EA0F-C100-38DDFDB893B2}"/>
              </a:ext>
            </a:extLst>
          </p:cNvPr>
          <p:cNvSpPr/>
          <p:nvPr/>
        </p:nvSpPr>
        <p:spPr>
          <a:xfrm>
            <a:off x="258679" y="751011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F776F"/>
                </a:solidFill>
              </a:rPr>
              <a:t>앱 화면은 기능별로 나뉘지만 사용자의 목표 관리 흐름 안에서 연결되도록 설계했습니다.</a:t>
            </a:r>
            <a:endParaRPr lang="en-US" sz="128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9D1D27-C27A-85BB-4262-9A85B8AE87FF}"/>
              </a:ext>
            </a:extLst>
          </p:cNvPr>
          <p:cNvSpPr/>
          <p:nvPr/>
        </p:nvSpPr>
        <p:spPr>
          <a:xfrm>
            <a:off x="231247" y="1080195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D3BB6DB-1B14-5416-B06A-870EF40DED20}"/>
              </a:ext>
            </a:extLst>
          </p:cNvPr>
          <p:cNvGrpSpPr/>
          <p:nvPr/>
        </p:nvGrpSpPr>
        <p:grpSpPr>
          <a:xfrm>
            <a:off x="210651" y="1397796"/>
            <a:ext cx="11770391" cy="4858601"/>
            <a:chOff x="258679" y="1240216"/>
            <a:chExt cx="11770391" cy="485860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5405605-D05F-7D2A-F5EC-9FAE19E42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679" y="1240216"/>
              <a:ext cx="2161939" cy="485860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55CD160-9215-3708-3522-D45A79AA9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0297" y="1240216"/>
              <a:ext cx="2202566" cy="485860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EEE4C11-8CB6-F008-5544-F29909BBA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2542" y="1240216"/>
              <a:ext cx="2179905" cy="485860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84CBDBE-E29E-5F75-2E91-C26E4CC82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12126" y="1279563"/>
              <a:ext cx="2131458" cy="4779906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90BBBA9-39AD-7D0A-13DC-26371542A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13263" y="1430439"/>
              <a:ext cx="2015807" cy="4478154"/>
            </a:xfrm>
            <a:prstGeom prst="rect">
              <a:avLst/>
            </a:prstGeom>
          </p:spPr>
        </p:pic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26E512A-B1EE-2E6F-BDE2-88B02BF16B97}"/>
              </a:ext>
            </a:extLst>
          </p:cNvPr>
          <p:cNvSpPr/>
          <p:nvPr/>
        </p:nvSpPr>
        <p:spPr>
          <a:xfrm>
            <a:off x="271893" y="2129667"/>
            <a:ext cx="2039454" cy="1409662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DAF150-791E-7DE5-3818-0CD9252A08D3}"/>
              </a:ext>
            </a:extLst>
          </p:cNvPr>
          <p:cNvSpPr txBox="1"/>
          <p:nvPr/>
        </p:nvSpPr>
        <p:spPr>
          <a:xfrm>
            <a:off x="672498" y="1821890"/>
            <a:ext cx="16388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원하는 적금 선택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DE18E43-4411-F01D-2395-49CB6B81CB94}"/>
              </a:ext>
            </a:extLst>
          </p:cNvPr>
          <p:cNvSpPr/>
          <p:nvPr/>
        </p:nvSpPr>
        <p:spPr>
          <a:xfrm>
            <a:off x="2726740" y="5097451"/>
            <a:ext cx="2039454" cy="528451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FB5A67-785D-4DC3-ECD1-B920EFA74554}"/>
              </a:ext>
            </a:extLst>
          </p:cNvPr>
          <p:cNvSpPr txBox="1"/>
          <p:nvPr/>
        </p:nvSpPr>
        <p:spPr>
          <a:xfrm>
            <a:off x="3140501" y="4789674"/>
            <a:ext cx="16388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적금 가입 후 추가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2303141-580E-3C0A-C4BD-34839BB27C60}"/>
              </a:ext>
            </a:extLst>
          </p:cNvPr>
          <p:cNvSpPr/>
          <p:nvPr/>
        </p:nvSpPr>
        <p:spPr>
          <a:xfrm>
            <a:off x="5175007" y="3164774"/>
            <a:ext cx="2039454" cy="861217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BC9313-0D2D-7D6F-186C-AC0E1AD7962B}"/>
              </a:ext>
            </a:extLst>
          </p:cNvPr>
          <p:cNvSpPr txBox="1"/>
          <p:nvPr/>
        </p:nvSpPr>
        <p:spPr>
          <a:xfrm>
            <a:off x="5636105" y="2878695"/>
            <a:ext cx="16388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가입된 내역 반영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D89289-D8DA-B69B-8CB4-A19C5FC022FE}"/>
              </a:ext>
            </a:extLst>
          </p:cNvPr>
          <p:cNvSpPr/>
          <p:nvPr/>
        </p:nvSpPr>
        <p:spPr>
          <a:xfrm>
            <a:off x="9040413" y="3309615"/>
            <a:ext cx="582194" cy="307777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B55602-ADC3-157B-CE95-AFFE5BC92380}"/>
              </a:ext>
            </a:extLst>
          </p:cNvPr>
          <p:cNvSpPr txBox="1"/>
          <p:nvPr/>
        </p:nvSpPr>
        <p:spPr>
          <a:xfrm>
            <a:off x="8056707" y="3001838"/>
            <a:ext cx="16388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납입 완료 후 클릭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4C80C16-1363-4BFA-67B7-0BD6754332B5}"/>
              </a:ext>
            </a:extLst>
          </p:cNvPr>
          <p:cNvSpPr/>
          <p:nvPr/>
        </p:nvSpPr>
        <p:spPr>
          <a:xfrm>
            <a:off x="9965234" y="1548583"/>
            <a:ext cx="2015807" cy="4229221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92CD00-B3F5-3C72-879A-6099AC7CB224}"/>
              </a:ext>
            </a:extLst>
          </p:cNvPr>
          <p:cNvSpPr txBox="1"/>
          <p:nvPr/>
        </p:nvSpPr>
        <p:spPr>
          <a:xfrm>
            <a:off x="9847956" y="1235233"/>
            <a:ext cx="16388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내 플랜 체크</a:t>
            </a:r>
          </a:p>
        </p:txBody>
      </p:sp>
    </p:spTree>
    <p:extLst>
      <p:ext uri="{BB962C8B-B14F-4D97-AF65-F5344CB8AC3E}">
        <p14:creationId xmlns:p14="http://schemas.microsoft.com/office/powerpoint/2010/main" val="353787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B992-8D59-D6A7-D91A-579266E4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95D25-9F2E-523E-B81F-F6C6BDC9A26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2A8CE3-9DC6-544D-6FE8-A7A969E9EA3C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58CBB2-4A69-0BC8-D754-BF9B2DFE0F3E}"/>
              </a:ext>
            </a:extLst>
          </p:cNvPr>
          <p:cNvSpPr/>
          <p:nvPr/>
        </p:nvSpPr>
        <p:spPr>
          <a:xfrm>
            <a:off x="231247" y="275523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6261F"/>
                </a:solidFill>
              </a:rPr>
              <a:t>내 플랜 반영 내용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78308C-828B-C736-183D-F91172DCE2EC}"/>
              </a:ext>
            </a:extLst>
          </p:cNvPr>
          <p:cNvSpPr/>
          <p:nvPr/>
        </p:nvSpPr>
        <p:spPr>
          <a:xfrm>
            <a:off x="258679" y="751011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80" dirty="0">
                <a:solidFill>
                  <a:srgbClr val="6F776F"/>
                </a:solidFill>
              </a:rPr>
              <a:t>가입 즉시 반영되는 포트폴리오 제공</a:t>
            </a:r>
            <a:endParaRPr lang="en-US" sz="128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EE5E2E-F76F-B866-B7EF-A73430F6AF5B}"/>
              </a:ext>
            </a:extLst>
          </p:cNvPr>
          <p:cNvSpPr/>
          <p:nvPr/>
        </p:nvSpPr>
        <p:spPr>
          <a:xfrm>
            <a:off x="666613" y="5107299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EC11E4B-1C4C-DCA6-F8A9-2C65CEEBCAE9}"/>
              </a:ext>
            </a:extLst>
          </p:cNvPr>
          <p:cNvGrpSpPr/>
          <p:nvPr/>
        </p:nvGrpSpPr>
        <p:grpSpPr>
          <a:xfrm>
            <a:off x="438509" y="1123385"/>
            <a:ext cx="11314982" cy="3450036"/>
            <a:chOff x="449574" y="1657262"/>
            <a:chExt cx="11314982" cy="345003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5C23BBC-3E9C-EFD1-7529-13968EEC3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49574" y="2483327"/>
              <a:ext cx="2533683" cy="257133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85E27DDD-5E81-BCCD-C703-CFCB34236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5658" y="1657262"/>
              <a:ext cx="2355265" cy="3450036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5B16D03D-78E4-5882-BF49-06B9A5D29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4297" y="2209370"/>
              <a:ext cx="2910259" cy="2897928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A4C1AF42-E5A1-A7EE-228A-032570A7C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700" y="2323349"/>
            <a:ext cx="2935689" cy="225007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BA3AF0C-5A3F-5799-9913-99C29891E45F}"/>
              </a:ext>
            </a:extLst>
          </p:cNvPr>
          <p:cNvSpPr txBox="1"/>
          <p:nvPr/>
        </p:nvSpPr>
        <p:spPr>
          <a:xfrm>
            <a:off x="345805" y="5345628"/>
            <a:ext cx="27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남은 저축 금액 확인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33EAE4-9095-AC2C-D8FA-A7F9C1144A19}"/>
              </a:ext>
            </a:extLst>
          </p:cNvPr>
          <p:cNvSpPr txBox="1"/>
          <p:nvPr/>
        </p:nvSpPr>
        <p:spPr>
          <a:xfrm>
            <a:off x="2966063" y="5333962"/>
            <a:ext cx="27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현재 플랜 계산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F3F6A1-D3D3-8E80-63BD-D455943240C8}"/>
              </a:ext>
            </a:extLst>
          </p:cNvPr>
          <p:cNvSpPr txBox="1"/>
          <p:nvPr/>
        </p:nvSpPr>
        <p:spPr>
          <a:xfrm>
            <a:off x="5816999" y="5345628"/>
            <a:ext cx="27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현 가입 상품 정보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997059-8F24-0020-09CE-B433CDE58354}"/>
              </a:ext>
            </a:extLst>
          </p:cNvPr>
          <p:cNvSpPr txBox="1"/>
          <p:nvPr/>
        </p:nvSpPr>
        <p:spPr>
          <a:xfrm>
            <a:off x="8938816" y="5345628"/>
            <a:ext cx="27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</a:rPr>
              <a:t>경우에 따른 예상 기간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CDB9CB49-478B-BEFF-89C6-9948FF1FA78E}"/>
              </a:ext>
            </a:extLst>
          </p:cNvPr>
          <p:cNvSpPr/>
          <p:nvPr/>
        </p:nvSpPr>
        <p:spPr>
          <a:xfrm>
            <a:off x="758053" y="4695819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6261F"/>
                </a:solidFill>
              </a:rPr>
              <a:t>예상 효과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084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3840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법률 검토가 필요했던 이유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18488" y="1332239"/>
            <a:ext cx="2971800" cy="4193522"/>
          </a:xfrm>
          <a:prstGeom prst="roundRect">
            <a:avLst>
              <a:gd name="adj" fmla="val 312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0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13255" y="4547353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4E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61895" y="4547353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302A"/>
                </a:solidFill>
              </a:rPr>
              <a:t>저장되는 정보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98548" y="4958833"/>
            <a:ext cx="23390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5302A"/>
                </a:solidFill>
              </a:rPr>
              <a:t>Google 로그인으로 이름·이메일을 확인하고, 자산·저축 플랜·납입기록·거주지역이 계정별로 저장된다.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01184" y="1332239"/>
            <a:ext cx="2971800" cy="4193522"/>
          </a:xfrm>
          <a:prstGeom prst="roundRect">
            <a:avLst>
              <a:gd name="adj" fmla="val 312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0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95951" y="4547353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4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44591" y="4547353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302A"/>
                </a:solidFill>
              </a:rPr>
              <a:t>발생하는 위험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81244" y="4958833"/>
            <a:ext cx="23390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5302A"/>
                </a:solidFill>
              </a:rPr>
              <a:t>수집 동의가 불명확하거나 데이터 권한이 약하면 사용자의 개인정보와 금융정보가 노출될 수 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183880" y="1332239"/>
            <a:ext cx="2971800" cy="4193522"/>
          </a:xfrm>
          <a:prstGeom prst="roundRect">
            <a:avLst>
              <a:gd name="adj" fmla="val 312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0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78647" y="4547353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4E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27287" y="4547353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302A"/>
                </a:solidFill>
              </a:rPr>
              <a:t>표시상의 오해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63940" y="4958833"/>
            <a:ext cx="23390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5302A"/>
                </a:solidFill>
              </a:rPr>
              <a:t>정부정책과 민간 적금상품을 같은 방식으로 보여주면 공식 추천·광고처럼 오해될 가능성이 있다.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952244" y="5945859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E6B4E"/>
                </a:solidFill>
              </a:rPr>
              <a:t>앱 출시를 통한 창업을 위해 충분한 법률 검토가 필요</a:t>
            </a:r>
            <a:endParaRPr lang="en-US" sz="2000" dirty="0"/>
          </a:p>
        </p:txBody>
      </p:sp>
      <p:pic>
        <p:nvPicPr>
          <p:cNvPr id="22" name="그림 21" descr="구글 광고 효과적인 운영 전략">
            <a:extLst>
              <a:ext uri="{FF2B5EF4-FFF2-40B4-BE49-F238E27FC236}">
                <a16:creationId xmlns:a16="http://schemas.microsoft.com/office/drawing/2014/main" id="{5248E9CE-4C91-EA67-3126-1B5881093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553" y="1974460"/>
            <a:ext cx="1931670" cy="19316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그림 22" descr="비플페이 개인정보 해킹 이용자라면 꼭 알아야 할 보안 점검 리스트">
            <a:extLst>
              <a:ext uri="{FF2B5EF4-FFF2-40B4-BE49-F238E27FC236}">
                <a16:creationId xmlns:a16="http://schemas.microsoft.com/office/drawing/2014/main" id="{FB32B2F6-6205-5BC8-9297-0EB45C335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566" y="2115102"/>
            <a:ext cx="2339035" cy="1747397"/>
          </a:xfrm>
          <a:prstGeom prst="rect">
            <a:avLst/>
          </a:prstGeom>
        </p:spPr>
      </p:pic>
      <p:pic>
        <p:nvPicPr>
          <p:cNvPr id="24" name="그림 23" descr="‘허위, 불법 리뷰’ 잡기 나선 IT 플랫폼">
            <a:extLst>
              <a:ext uri="{FF2B5EF4-FFF2-40B4-BE49-F238E27FC236}">
                <a16:creationId xmlns:a16="http://schemas.microsoft.com/office/drawing/2014/main" id="{58BBE4C6-33EF-670C-D236-73DD079F6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363" y="2115102"/>
            <a:ext cx="2710434" cy="1729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41AE-B74B-8C2B-056C-7B753393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D9245A2-CA3C-F874-5F0C-7F1FCA1892E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BC1DBF-0E57-0A2B-0E0B-4A4695891561}"/>
              </a:ext>
            </a:extLst>
          </p:cNvPr>
          <p:cNvSpPr/>
          <p:nvPr/>
        </p:nvSpPr>
        <p:spPr>
          <a:xfrm>
            <a:off x="685800" y="3840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현행 법률을 기준으로 세운 검토 프레임</a:t>
            </a:r>
            <a:endParaRPr lang="en-US" sz="2200" dirty="0"/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940E204D-6F6B-E693-4F34-623AB5C75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69048"/>
              </p:ext>
            </p:extLst>
          </p:nvPr>
        </p:nvGraphicFramePr>
        <p:xfrm>
          <a:off x="1051560" y="1595628"/>
          <a:ext cx="10515600" cy="4005074"/>
        </p:xfrm>
        <a:graphic>
          <a:graphicData uri="http://schemas.openxmlformats.org/drawingml/2006/table">
            <a:tbl>
              <a:tblPr/>
              <a:tblGrid>
                <a:gridCol w="1623060">
                  <a:extLst>
                    <a:ext uri="{9D8B030D-6E8A-4147-A177-3AD203B41FA5}">
                      <a16:colId xmlns:a16="http://schemas.microsoft.com/office/drawing/2014/main" val="2193882837"/>
                    </a:ext>
                  </a:extLst>
                </a:gridCol>
                <a:gridCol w="4747260">
                  <a:extLst>
                    <a:ext uri="{9D8B030D-6E8A-4147-A177-3AD203B41FA5}">
                      <a16:colId xmlns:a16="http://schemas.microsoft.com/office/drawing/2014/main" val="1520377506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3042000534"/>
                    </a:ext>
                  </a:extLst>
                </a:gridCol>
              </a:tblGrid>
              <a:tr h="500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</a:rPr>
                        <a:t>검토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</a:rPr>
                        <a:t>근거 법령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>
                          <a:solidFill>
                            <a:schemeClr val="bg1"/>
                          </a:solidFill>
                        </a:rPr>
                        <a:t>앱 적용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212256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/>
                        <a:t>수집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개인정보 보호법 제15조·제16조·제22조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 err="1"/>
                        <a:t>목적·항목·보유기간</a:t>
                      </a:r>
                      <a:r>
                        <a:rPr lang="ko-KR" b="0" dirty="0"/>
                        <a:t> 안내, </a:t>
                      </a:r>
                      <a:r>
                        <a:rPr lang="ko-KR" b="0" dirty="0" err="1"/>
                        <a:t>필수·선택동의</a:t>
                      </a:r>
                      <a:r>
                        <a:rPr lang="ko-KR" b="0" dirty="0"/>
                        <a:t> 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0233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/>
                        <a:t>개인정보 보호법 제</a:t>
                      </a:r>
                      <a:r>
                        <a:rPr lang="en-US" altLang="ko-KR" b="0" dirty="0"/>
                        <a:t>21</a:t>
                      </a:r>
                      <a:r>
                        <a:rPr lang="ko-KR" altLang="en-US" b="0" dirty="0"/>
                        <a:t>조</a:t>
                      </a:r>
                      <a:r>
                        <a:rPr lang="en-US" altLang="ko-KR" b="0" dirty="0"/>
                        <a:t>·</a:t>
                      </a:r>
                      <a:r>
                        <a:rPr lang="ko-KR" altLang="en-US" b="0" dirty="0"/>
                        <a:t>제</a:t>
                      </a:r>
                      <a:r>
                        <a:rPr lang="en-US" altLang="ko-KR" b="0" dirty="0"/>
                        <a:t>36</a:t>
                      </a:r>
                      <a:r>
                        <a:rPr lang="ko-KR" altLang="en-US" b="0" dirty="0"/>
                        <a:t>조</a:t>
                      </a:r>
                      <a:r>
                        <a:rPr lang="en-US" altLang="ko-KR" b="0" dirty="0"/>
                        <a:t>·</a:t>
                      </a:r>
                      <a:r>
                        <a:rPr lang="ko-KR" altLang="en-US" b="0" dirty="0"/>
                        <a:t>제</a:t>
                      </a:r>
                      <a:r>
                        <a:rPr lang="en-US" altLang="ko-KR" b="0" dirty="0"/>
                        <a:t>38</a:t>
                      </a:r>
                      <a:r>
                        <a:rPr lang="ko-KR" altLang="en-US" b="0" dirty="0"/>
                        <a:t>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/>
                        <a:t>회원탈퇴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개인정보 삭제 요구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목적 달성 후 파기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028902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/>
                        <a:t>보호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개인정보 보호법 제29조, 시행령 제30조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사용자별 접근권한 분리, </a:t>
                      </a:r>
                      <a:r>
                        <a:rPr lang="ko-KR" b="0" dirty="0" err="1"/>
                        <a:t>인증·암호화·접속기록</a:t>
                      </a:r>
                      <a:r>
                        <a:rPr lang="ko-KR" b="0" dirty="0"/>
                        <a:t>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76325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/>
                        <a:t>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금융소비자보호법 제22조, 표시광고법 제3조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 err="1"/>
                        <a:t>금리·혜택·조건·출처의</a:t>
                      </a:r>
                      <a:r>
                        <a:rPr lang="ko-KR" b="0" dirty="0"/>
                        <a:t> 정확한 표시, </a:t>
                      </a:r>
                      <a:r>
                        <a:rPr lang="ko-KR" b="0" dirty="0" err="1"/>
                        <a:t>과장·누락</a:t>
                      </a:r>
                      <a:r>
                        <a:rPr lang="ko-KR" b="0" dirty="0"/>
                        <a:t>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83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1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3840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현행 법률을 기준으로 세운 검토 프레임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404872"/>
            <a:ext cx="2240280" cy="3337560"/>
          </a:xfrm>
          <a:prstGeom prst="roundRect">
            <a:avLst>
              <a:gd name="adj" fmla="val 4082"/>
            </a:avLst>
          </a:prstGeom>
          <a:solidFill>
            <a:srgbClr val="EEF6EA"/>
          </a:solidFill>
          <a:ln w="12700">
            <a:solidFill>
              <a:srgbClr val="C9D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4E"/>
                </a:solidFill>
              </a:rPr>
              <a:t>수집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02A"/>
                </a:solidFill>
              </a:rPr>
              <a:t>개인정보 수집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5256" y="38679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02A"/>
                </a:solidFill>
              </a:rPr>
              <a:t>수집 목적·항목·보유기간을 명확히 안내하고 동의를 받아야 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2240280" cy="333756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9D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931920" y="26974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4E"/>
                </a:solidFill>
              </a:rPr>
              <a:t>삭제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85032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02A"/>
                </a:solidFill>
              </a:rPr>
              <a:t>이용자 권리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39896" y="38679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02A"/>
                </a:solidFill>
              </a:rPr>
              <a:t>서비스 이용 종료 시 삭제·탈퇴 등 자기정보 관리 수단이 필요함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404872"/>
            <a:ext cx="2240280" cy="3337560"/>
          </a:xfrm>
          <a:prstGeom prst="roundRect">
            <a:avLst>
              <a:gd name="adj" fmla="val 4082"/>
            </a:avLst>
          </a:prstGeom>
          <a:solidFill>
            <a:srgbClr val="EEF6EA"/>
          </a:solidFill>
          <a:ln w="12700">
            <a:solidFill>
              <a:srgbClr val="C9D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6560" y="26974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4E"/>
                </a:solidFill>
              </a:rPr>
              <a:t>보호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19672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02A"/>
                </a:solidFill>
              </a:rPr>
              <a:t>안전한 관리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74536" y="38679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02A"/>
                </a:solidFill>
              </a:rPr>
              <a:t>로그인 사용자와 데이터 소유자가 일치할 때만 접근 허용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9720" y="2404872"/>
            <a:ext cx="2240280" cy="333756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9D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601200" y="26974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4E"/>
                </a:solidFill>
              </a:rPr>
              <a:t>표시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54312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302A"/>
                </a:solidFill>
              </a:rPr>
              <a:t>금융상품 표시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09176" y="38679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02A"/>
                </a:solidFill>
              </a:rPr>
              <a:t>금리·혜택·출처를 과장 없이 제시하고 광고성 표시를 구분</a:t>
            </a:r>
            <a:endParaRPr lang="en-US" sz="10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1B97D19-E658-9E60-60A5-CB1119B30428}"/>
              </a:ext>
            </a:extLst>
          </p:cNvPr>
          <p:cNvSpPr/>
          <p:nvPr/>
        </p:nvSpPr>
        <p:spPr>
          <a:xfrm>
            <a:off x="472440" y="18333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2E6B4E"/>
          </a:solidFill>
          <a:ln w="12700">
            <a:solidFill>
              <a:srgbClr val="2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35DFD6D6-39F6-0D23-BB46-4C7EFB3CA00E}"/>
              </a:ext>
            </a:extLst>
          </p:cNvPr>
          <p:cNvSpPr/>
          <p:nvPr/>
        </p:nvSpPr>
        <p:spPr>
          <a:xfrm>
            <a:off x="582168" y="1901952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개인정보 보호법</a:t>
            </a:r>
            <a:endParaRPr lang="en-US" sz="1000" dirty="0"/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4D40F727-AE69-DBCC-4269-E42125F6D424}"/>
              </a:ext>
            </a:extLst>
          </p:cNvPr>
          <p:cNvSpPr/>
          <p:nvPr/>
        </p:nvSpPr>
        <p:spPr>
          <a:xfrm>
            <a:off x="9509760" y="190195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C49A4A"/>
          </a:solidFill>
          <a:ln w="12700">
            <a:solidFill>
              <a:srgbClr val="C49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9C8BE26-F45D-DDCA-203A-CAEB09EF6B9D}"/>
              </a:ext>
            </a:extLst>
          </p:cNvPr>
          <p:cNvSpPr/>
          <p:nvPr/>
        </p:nvSpPr>
        <p:spPr>
          <a:xfrm>
            <a:off x="9619488" y="1970532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금융소비자보호법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85173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2331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법률 기준과 기존 IDENTIQ의 차이</a:t>
            </a:r>
            <a:endParaRPr lang="en-US" sz="220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32848A8-E8F4-6E48-7021-C60C58C93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77345"/>
              </p:ext>
            </p:extLst>
          </p:nvPr>
        </p:nvGraphicFramePr>
        <p:xfrm>
          <a:off x="685800" y="1071372"/>
          <a:ext cx="11140441" cy="4881184"/>
        </p:xfrm>
        <a:graphic>
          <a:graphicData uri="http://schemas.openxmlformats.org/drawingml/2006/table">
            <a:tbl>
              <a:tblPr/>
              <a:tblGrid>
                <a:gridCol w="1719503">
                  <a:extLst>
                    <a:ext uri="{9D8B030D-6E8A-4147-A177-3AD203B41FA5}">
                      <a16:colId xmlns:a16="http://schemas.microsoft.com/office/drawing/2014/main" val="2193882837"/>
                    </a:ext>
                  </a:extLst>
                </a:gridCol>
                <a:gridCol w="5029344">
                  <a:extLst>
                    <a:ext uri="{9D8B030D-6E8A-4147-A177-3AD203B41FA5}">
                      <a16:colId xmlns:a16="http://schemas.microsoft.com/office/drawing/2014/main" val="1520377506"/>
                    </a:ext>
                  </a:extLst>
                </a:gridCol>
                <a:gridCol w="4391594">
                  <a:extLst>
                    <a:ext uri="{9D8B030D-6E8A-4147-A177-3AD203B41FA5}">
                      <a16:colId xmlns:a16="http://schemas.microsoft.com/office/drawing/2014/main" val="3042000534"/>
                    </a:ext>
                  </a:extLst>
                </a:gridCol>
              </a:tblGrid>
              <a:tr h="500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</a:rPr>
                        <a:t>법률상 검토 기준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>
                          <a:solidFill>
                            <a:schemeClr val="bg1"/>
                          </a:solidFill>
                        </a:rPr>
                        <a:t>기존 시스템의 문제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>
                          <a:solidFill>
                            <a:schemeClr val="bg1"/>
                          </a:solidFill>
                        </a:rPr>
                        <a:t>개선 방향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212256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개인정보 수집 목적과 항목 안내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Google 로그인 과정에서 개인정보 </a:t>
                      </a:r>
                      <a:r>
                        <a:rPr lang="ko-KR" sz="1400" b="1" dirty="0" err="1"/>
                        <a:t>수집·이용에</a:t>
                      </a:r>
                      <a:r>
                        <a:rPr lang="ko-KR" sz="1400" b="1" dirty="0"/>
                        <a:t> 대한 별도 동의 안내가 부족함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필수동의와 선택동의를 구분하여 표시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0233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이용 종료 시 개인정보 삭제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로그아웃과 회원탈퇴의 역할이 명확하게 구분되지 않음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회원탈퇴 시 계정 및 연관 데이터 전체 삭제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028902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권한이 있는 사용자만 접근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사용자 번호만 알면 다른 이용자의 데이터에 접근할 가능성이 있음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로그인 정보와 데이터 소유자 번호를 함께 검증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76325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금융상품 정보의 오인 방지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정부지원 정책과 민간 금융상품이 동일한 형태의 카드로 표시됨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정보 출처와 </a:t>
                      </a:r>
                      <a:r>
                        <a:rPr lang="ko-KR" sz="1400" b="1" dirty="0" err="1"/>
                        <a:t>광고·제휴</a:t>
                      </a:r>
                      <a:r>
                        <a:rPr lang="ko-KR" sz="1400" b="1" dirty="0"/>
                        <a:t> 여부를 명확하게 표시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838215"/>
                  </a:ext>
                </a:extLst>
              </a:tr>
              <a:tr h="876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금리와 혜택 조건의 명확한 제시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최고금리만 강조할 경우 실제 적용 조건을 오해할 수 있음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/>
                        <a:t>기본금리, 우대조건, 적용 기간 및 주의사항을 함께 표시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75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E519D35C-F71A-B3D3-DECA-6E2D32B7F7A6}"/>
              </a:ext>
            </a:extLst>
          </p:cNvPr>
          <p:cNvSpPr/>
          <p:nvPr/>
        </p:nvSpPr>
        <p:spPr>
          <a:xfrm>
            <a:off x="1490008" y="4778557"/>
            <a:ext cx="2705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D653F"/>
                </a:solidFill>
              </a:rPr>
              <a:t>기대효과</a:t>
            </a:r>
            <a:endParaRPr lang="en-US" sz="2800" b="1" dirty="0">
              <a:solidFill>
                <a:srgbClr val="1D653F"/>
              </a:solidFill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03CA4286-7201-1F9E-E837-256B3070D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984" b="50391" l="10000" r="90000">
                        <a14:foregroundMark x1="26981" y1="9180" x2="59811" y2="9082"/>
                        <a14:foregroundMark x1="25849" y1="50391" x2="50377" y2="49121"/>
                        <a14:foregroundMark x1="50377" y1="49121" x2="73774" y2="50098"/>
                      </a14:backgroundRemoval>
                    </a14:imgEffect>
                  </a14:imgLayer>
                </a14:imgProps>
              </a:ext>
            </a:extLst>
          </a:blip>
          <a:srcRect t="5177" b="44825"/>
          <a:stretch>
            <a:fillRect/>
          </a:stretch>
        </p:blipFill>
        <p:spPr>
          <a:xfrm>
            <a:off x="978287" y="1220189"/>
            <a:ext cx="3728543" cy="3601786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EBCA8E96-D237-E4BC-569F-3F1FA6CA6229}"/>
              </a:ext>
            </a:extLst>
          </p:cNvPr>
          <p:cNvGrpSpPr/>
          <p:nvPr/>
        </p:nvGrpSpPr>
        <p:grpSpPr>
          <a:xfrm>
            <a:off x="6865542" y="1350817"/>
            <a:ext cx="3211200" cy="2087428"/>
            <a:chOff x="763117" y="2325198"/>
            <a:chExt cx="2971800" cy="2087428"/>
          </a:xfrm>
        </p:grpSpPr>
        <p:sp>
          <p:nvSpPr>
            <p:cNvPr id="65" name="Shape 8">
              <a:extLst>
                <a:ext uri="{FF2B5EF4-FFF2-40B4-BE49-F238E27FC236}">
                  <a16:creationId xmlns:a16="http://schemas.microsoft.com/office/drawing/2014/main" id="{17C3AC36-9931-5638-9FAC-B0EF4D49A752}"/>
                </a:ext>
              </a:extLst>
            </p:cNvPr>
            <p:cNvSpPr/>
            <p:nvPr/>
          </p:nvSpPr>
          <p:spPr>
            <a:xfrm>
              <a:off x="821600" y="2325198"/>
              <a:ext cx="2880517" cy="2087428"/>
            </a:xfrm>
            <a:prstGeom prst="roundRect">
              <a:avLst>
                <a:gd name="adj" fmla="val 6107"/>
              </a:avLst>
            </a:prstGeom>
            <a:solidFill>
              <a:srgbClr val="FFF9EA"/>
            </a:solidFill>
            <a:ln w="10160">
              <a:solidFill>
                <a:srgbClr val="CDBE9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8">
              <a:extLst>
                <a:ext uri="{FF2B5EF4-FFF2-40B4-BE49-F238E27FC236}">
                  <a16:creationId xmlns:a16="http://schemas.microsoft.com/office/drawing/2014/main" id="{FBE66FDD-2461-4331-B637-74C1E280B25D}"/>
                </a:ext>
              </a:extLst>
            </p:cNvPr>
            <p:cNvSpPr/>
            <p:nvPr/>
          </p:nvSpPr>
          <p:spPr>
            <a:xfrm>
              <a:off x="763117" y="2708257"/>
              <a:ext cx="29718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400" b="1" dirty="0">
                  <a:solidFill>
                    <a:srgbClr val="2E7D57"/>
                  </a:solidFill>
                </a:rPr>
                <a:t>청년 필수 재테크 앱</a:t>
              </a:r>
              <a:endParaRPr lang="en-US" sz="2400" dirty="0"/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2F12D243-B467-343F-083A-C68057188A58}"/>
                </a:ext>
              </a:extLst>
            </p:cNvPr>
            <p:cNvSpPr/>
            <p:nvPr/>
          </p:nvSpPr>
          <p:spPr>
            <a:xfrm>
              <a:off x="861461" y="3448921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300" dirty="0">
                  <a:solidFill>
                    <a:srgbClr val="6F776F"/>
                  </a:solidFill>
                </a:rPr>
                <a:t>많은 청년들이 신뢰하는 </a:t>
              </a:r>
              <a:endParaRPr lang="en-US" altLang="ko-KR" sz="1300" dirty="0">
                <a:solidFill>
                  <a:srgbClr val="6F776F"/>
                </a:solidFill>
              </a:endParaRPr>
            </a:p>
            <a:p>
              <a:pPr marL="0" indent="0" algn="ctr">
                <a:buNone/>
              </a:pPr>
              <a:r>
                <a:rPr lang="ko-KR" altLang="en-US" sz="1300" dirty="0">
                  <a:solidFill>
                    <a:srgbClr val="6F776F"/>
                  </a:solidFill>
                </a:rPr>
                <a:t>필수 재테크 앱</a:t>
              </a:r>
              <a:endParaRPr lang="en-US" sz="13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85187BC-94CC-5EE8-1500-63816CC4CC28}"/>
              </a:ext>
            </a:extLst>
          </p:cNvPr>
          <p:cNvGrpSpPr/>
          <p:nvPr/>
        </p:nvGrpSpPr>
        <p:grpSpPr>
          <a:xfrm>
            <a:off x="5314289" y="3548096"/>
            <a:ext cx="3211200" cy="2087428"/>
            <a:chOff x="815741" y="2325198"/>
            <a:chExt cx="2971800" cy="2087428"/>
          </a:xfrm>
        </p:grpSpPr>
        <p:sp>
          <p:nvSpPr>
            <p:cNvPr id="72" name="Shape 8">
              <a:extLst>
                <a:ext uri="{FF2B5EF4-FFF2-40B4-BE49-F238E27FC236}">
                  <a16:creationId xmlns:a16="http://schemas.microsoft.com/office/drawing/2014/main" id="{91326EF2-3B23-BD8F-F307-F220BFE39764}"/>
                </a:ext>
              </a:extLst>
            </p:cNvPr>
            <p:cNvSpPr/>
            <p:nvPr/>
          </p:nvSpPr>
          <p:spPr>
            <a:xfrm>
              <a:off x="821600" y="2325198"/>
              <a:ext cx="2880517" cy="2087428"/>
            </a:xfrm>
            <a:prstGeom prst="roundRect">
              <a:avLst>
                <a:gd name="adj" fmla="val 6107"/>
              </a:avLst>
            </a:prstGeom>
            <a:solidFill>
              <a:srgbClr val="FFF9EA"/>
            </a:solidFill>
            <a:ln w="10160">
              <a:solidFill>
                <a:srgbClr val="CDBE9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CA275A68-8F4F-2775-434A-2FE8EF828FE3}"/>
                </a:ext>
              </a:extLst>
            </p:cNvPr>
            <p:cNvSpPr/>
            <p:nvPr/>
          </p:nvSpPr>
          <p:spPr>
            <a:xfrm>
              <a:off x="815741" y="2708257"/>
              <a:ext cx="29718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500" b="1" dirty="0">
                  <a:solidFill>
                    <a:srgbClr val="2E7D57"/>
                  </a:solidFill>
                </a:rPr>
                <a:t>홍보의 장</a:t>
              </a:r>
              <a:endParaRPr lang="en-US" sz="2500" dirty="0"/>
            </a:p>
          </p:txBody>
        </p:sp>
        <p:sp>
          <p:nvSpPr>
            <p:cNvPr id="74" name="Text 9">
              <a:extLst>
                <a:ext uri="{FF2B5EF4-FFF2-40B4-BE49-F238E27FC236}">
                  <a16:creationId xmlns:a16="http://schemas.microsoft.com/office/drawing/2014/main" id="{4A71C51E-06B9-33C7-C349-D8C25262987E}"/>
                </a:ext>
              </a:extLst>
            </p:cNvPr>
            <p:cNvSpPr/>
            <p:nvPr/>
          </p:nvSpPr>
          <p:spPr>
            <a:xfrm>
              <a:off x="861461" y="3448921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300" dirty="0">
                  <a:solidFill>
                    <a:srgbClr val="6F776F"/>
                  </a:solidFill>
                </a:rPr>
                <a:t>여러 기업들의 광고판으로</a:t>
              </a:r>
              <a:r>
                <a:rPr lang="en-US" altLang="ko-KR" sz="1300" dirty="0">
                  <a:solidFill>
                    <a:srgbClr val="6F776F"/>
                  </a:solidFill>
                </a:rPr>
                <a:t> </a:t>
              </a:r>
              <a:r>
                <a:rPr lang="ko-KR" altLang="en-US" sz="1300" dirty="0">
                  <a:solidFill>
                    <a:srgbClr val="6F776F"/>
                  </a:solidFill>
                </a:rPr>
                <a:t>활용</a:t>
              </a:r>
              <a:endParaRPr lang="en-US" altLang="ko-KR" sz="1300" dirty="0">
                <a:solidFill>
                  <a:srgbClr val="6F776F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8DCE539-333B-ABDF-3B6F-C2F330E1A6F9}"/>
              </a:ext>
            </a:extLst>
          </p:cNvPr>
          <p:cNvGrpSpPr/>
          <p:nvPr/>
        </p:nvGrpSpPr>
        <p:grpSpPr>
          <a:xfrm>
            <a:off x="8482687" y="3550383"/>
            <a:ext cx="3210001" cy="2087428"/>
            <a:chOff x="775958" y="2325198"/>
            <a:chExt cx="2971800" cy="2087428"/>
          </a:xfrm>
        </p:grpSpPr>
        <p:sp>
          <p:nvSpPr>
            <p:cNvPr id="76" name="Shape 8">
              <a:extLst>
                <a:ext uri="{FF2B5EF4-FFF2-40B4-BE49-F238E27FC236}">
                  <a16:creationId xmlns:a16="http://schemas.microsoft.com/office/drawing/2014/main" id="{98294862-2A30-AE87-CB23-83D4DC02FD22}"/>
                </a:ext>
              </a:extLst>
            </p:cNvPr>
            <p:cNvSpPr/>
            <p:nvPr/>
          </p:nvSpPr>
          <p:spPr>
            <a:xfrm>
              <a:off x="821600" y="2325198"/>
              <a:ext cx="2880517" cy="2087428"/>
            </a:xfrm>
            <a:prstGeom prst="roundRect">
              <a:avLst>
                <a:gd name="adj" fmla="val 6107"/>
              </a:avLst>
            </a:prstGeom>
            <a:solidFill>
              <a:srgbClr val="FFF9EA"/>
            </a:solidFill>
            <a:ln w="10160">
              <a:solidFill>
                <a:srgbClr val="CDBE9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 8">
              <a:extLst>
                <a:ext uri="{FF2B5EF4-FFF2-40B4-BE49-F238E27FC236}">
                  <a16:creationId xmlns:a16="http://schemas.microsoft.com/office/drawing/2014/main" id="{18839F94-B9EE-3726-E8D7-7437CD012381}"/>
                </a:ext>
              </a:extLst>
            </p:cNvPr>
            <p:cNvSpPr/>
            <p:nvPr/>
          </p:nvSpPr>
          <p:spPr>
            <a:xfrm>
              <a:off x="775958" y="2708257"/>
              <a:ext cx="29718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500" b="1" dirty="0">
                  <a:solidFill>
                    <a:srgbClr val="2E7D57"/>
                  </a:solidFill>
                </a:rPr>
                <a:t>금융 진입장벽 완화</a:t>
              </a:r>
              <a:endParaRPr lang="en-US" sz="2500" dirty="0"/>
            </a:p>
          </p:txBody>
        </p:sp>
        <p:sp>
          <p:nvSpPr>
            <p:cNvPr id="78" name="Text 9">
              <a:extLst>
                <a:ext uri="{FF2B5EF4-FFF2-40B4-BE49-F238E27FC236}">
                  <a16:creationId xmlns:a16="http://schemas.microsoft.com/office/drawing/2014/main" id="{18663456-9B7B-265D-C133-9272DF67FB9B}"/>
                </a:ext>
              </a:extLst>
            </p:cNvPr>
            <p:cNvSpPr/>
            <p:nvPr/>
          </p:nvSpPr>
          <p:spPr>
            <a:xfrm>
              <a:off x="861461" y="3448921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300" dirty="0">
                  <a:solidFill>
                    <a:srgbClr val="6F776F"/>
                  </a:solidFill>
                </a:rPr>
                <a:t>쉽게 금융 상품들을 접할 수</a:t>
              </a:r>
              <a:endParaRPr lang="en-US" altLang="ko-KR" sz="1300" dirty="0">
                <a:solidFill>
                  <a:srgbClr val="6F776F"/>
                </a:solidFill>
              </a:endParaRPr>
            </a:p>
            <a:p>
              <a:pPr marL="0" indent="0" algn="ctr">
                <a:buNone/>
              </a:pPr>
              <a:r>
                <a:rPr lang="ko-KR" altLang="en-US" sz="1300" dirty="0">
                  <a:solidFill>
                    <a:srgbClr val="6F776F"/>
                  </a:solidFill>
                </a:rPr>
                <a:t> 있는 기회 마련</a:t>
              </a:r>
              <a:endParaRPr lang="en-US" altLang="ko-KR" sz="1300" dirty="0">
                <a:solidFill>
                  <a:srgbClr val="6F776F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55150-AD48-3798-2C9F-271CDD37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ADA375-1263-3469-9011-4341A7D033F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7"/>
          </a:solidFill>
          <a:ln w="12700">
            <a:solidFill>
              <a:srgbClr val="2E7D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29293E-872B-49E8-D476-D140D8D0917D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D7BC"/>
          </a:solidFill>
          <a:ln w="12700">
            <a:solidFill>
              <a:srgbClr val="E5D7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D2FF121-CB96-792F-CA6E-F6B02C8C6942}"/>
              </a:ext>
            </a:extLst>
          </p:cNvPr>
          <p:cNvGrpSpPr/>
          <p:nvPr/>
        </p:nvGrpSpPr>
        <p:grpSpPr>
          <a:xfrm>
            <a:off x="4405147" y="715618"/>
            <a:ext cx="7116417" cy="2087428"/>
            <a:chOff x="763117" y="2325198"/>
            <a:chExt cx="2971800" cy="2087428"/>
          </a:xfrm>
        </p:grpSpPr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E0B92B7D-AD1F-7530-2056-8152CDEC7ABC}"/>
                </a:ext>
              </a:extLst>
            </p:cNvPr>
            <p:cNvSpPr/>
            <p:nvPr/>
          </p:nvSpPr>
          <p:spPr>
            <a:xfrm>
              <a:off x="821600" y="2325198"/>
              <a:ext cx="2880517" cy="2087428"/>
            </a:xfrm>
            <a:prstGeom prst="roundRect">
              <a:avLst>
                <a:gd name="adj" fmla="val 6107"/>
              </a:avLst>
            </a:prstGeom>
            <a:solidFill>
              <a:srgbClr val="FFF9EA"/>
            </a:solidFill>
            <a:ln w="10160">
              <a:solidFill>
                <a:srgbClr val="CDBE9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3B7D8139-9901-BF5C-D612-C885EC3B38AB}"/>
                </a:ext>
              </a:extLst>
            </p:cNvPr>
            <p:cNvSpPr/>
            <p:nvPr/>
          </p:nvSpPr>
          <p:spPr>
            <a:xfrm>
              <a:off x="763117" y="2708257"/>
              <a:ext cx="29718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400" b="1" dirty="0">
                  <a:solidFill>
                    <a:srgbClr val="2E7D57"/>
                  </a:solidFill>
                </a:rPr>
                <a:t>정부 </a:t>
              </a:r>
              <a:r>
                <a:rPr lang="en-US" altLang="ko-KR" sz="2400" b="1" dirty="0">
                  <a:solidFill>
                    <a:srgbClr val="2E7D57"/>
                  </a:solidFill>
                </a:rPr>
                <a:t>/ </a:t>
              </a:r>
              <a:r>
                <a:rPr lang="ko-KR" altLang="en-US" sz="2400" b="1" dirty="0">
                  <a:solidFill>
                    <a:srgbClr val="2E7D57"/>
                  </a:solidFill>
                </a:rPr>
                <a:t>기업 상품 광고</a:t>
              </a:r>
              <a:endParaRPr lang="en-US" sz="2400" b="1" dirty="0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80C2ADEE-496D-46D9-9A42-85E2A320B28E}"/>
                </a:ext>
              </a:extLst>
            </p:cNvPr>
            <p:cNvSpPr/>
            <p:nvPr/>
          </p:nvSpPr>
          <p:spPr>
            <a:xfrm>
              <a:off x="861461" y="3448921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300" b="1" dirty="0">
                  <a:solidFill>
                    <a:srgbClr val="6F776F"/>
                  </a:solidFill>
                </a:rPr>
                <a:t>많은 청년 사용자들을 기반으로 한 광고 수익 모델</a:t>
              </a:r>
              <a:endParaRPr lang="en-US" sz="1300" b="1" dirty="0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EC74679A-DA29-E6D6-9CA1-F2199CEA6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984" b="50391" l="10000" r="90000">
                        <a14:foregroundMark x1="26981" y1="9180" x2="59811" y2="9082"/>
                        <a14:foregroundMark x1="25849" y1="50391" x2="50377" y2="49121"/>
                        <a14:foregroundMark x1="50377" y1="49121" x2="73774" y2="50098"/>
                      </a14:backgroundRemoval>
                    </a14:imgEffect>
                  </a14:imgLayer>
                </a14:imgProps>
              </a:ext>
            </a:extLst>
          </a:blip>
          <a:srcRect t="5177" b="44825"/>
          <a:stretch>
            <a:fillRect/>
          </a:stretch>
        </p:blipFill>
        <p:spPr>
          <a:xfrm>
            <a:off x="350534" y="1322290"/>
            <a:ext cx="3728543" cy="3601786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C416E3D-30C3-056E-FEEB-65664737A47F}"/>
              </a:ext>
            </a:extLst>
          </p:cNvPr>
          <p:cNvGrpSpPr/>
          <p:nvPr/>
        </p:nvGrpSpPr>
        <p:grpSpPr>
          <a:xfrm>
            <a:off x="4435897" y="3312000"/>
            <a:ext cx="7116417" cy="2087428"/>
            <a:chOff x="763117" y="2325198"/>
            <a:chExt cx="2971800" cy="2087428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31067603-AAED-66C7-60CD-4E8208ACC38B}"/>
                </a:ext>
              </a:extLst>
            </p:cNvPr>
            <p:cNvSpPr/>
            <p:nvPr/>
          </p:nvSpPr>
          <p:spPr>
            <a:xfrm>
              <a:off x="821600" y="2325198"/>
              <a:ext cx="2880517" cy="2087428"/>
            </a:xfrm>
            <a:prstGeom prst="roundRect">
              <a:avLst>
                <a:gd name="adj" fmla="val 6107"/>
              </a:avLst>
            </a:prstGeom>
            <a:solidFill>
              <a:srgbClr val="FFF9EA"/>
            </a:solidFill>
            <a:ln w="10160">
              <a:solidFill>
                <a:srgbClr val="CDBE9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C89619B3-F7B6-42F2-5664-2E84437A0C08}"/>
                </a:ext>
              </a:extLst>
            </p:cNvPr>
            <p:cNvSpPr/>
            <p:nvPr/>
          </p:nvSpPr>
          <p:spPr>
            <a:xfrm>
              <a:off x="763117" y="2708257"/>
              <a:ext cx="29718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2400" b="1" dirty="0">
                  <a:solidFill>
                    <a:srgbClr val="2E7D57"/>
                  </a:solidFill>
                </a:rPr>
                <a:t>정부 </a:t>
              </a:r>
              <a:r>
                <a:rPr lang="en-US" altLang="ko-KR" sz="2400" b="1" dirty="0">
                  <a:solidFill>
                    <a:srgbClr val="2E7D57"/>
                  </a:solidFill>
                </a:rPr>
                <a:t>/ </a:t>
              </a:r>
              <a:r>
                <a:rPr lang="ko-KR" altLang="en-US" sz="2400" b="1" dirty="0">
                  <a:solidFill>
                    <a:srgbClr val="2E7D57"/>
                  </a:solidFill>
                </a:rPr>
                <a:t>기업 연계 상품</a:t>
              </a:r>
              <a:endParaRPr lang="en-US" sz="2400" b="1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C9DEB7F3-1DF4-8266-5C49-6B2C9873E56E}"/>
                </a:ext>
              </a:extLst>
            </p:cNvPr>
            <p:cNvSpPr/>
            <p:nvPr/>
          </p:nvSpPr>
          <p:spPr>
            <a:xfrm>
              <a:off x="861461" y="3448921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300" b="1" dirty="0">
                  <a:solidFill>
                    <a:srgbClr val="6F776F"/>
                  </a:solidFill>
                </a:rPr>
                <a:t>기업 정부와의 협력으로 연계 상품 출시</a:t>
              </a:r>
              <a:endParaRPr lang="en-US" sz="1300" b="1" dirty="0"/>
            </a:p>
          </p:txBody>
        </p:sp>
      </p:grpSp>
      <p:sp>
        <p:nvSpPr>
          <p:cNvPr id="15" name="Text 5">
            <a:extLst>
              <a:ext uri="{FF2B5EF4-FFF2-40B4-BE49-F238E27FC236}">
                <a16:creationId xmlns:a16="http://schemas.microsoft.com/office/drawing/2014/main" id="{8623B6FF-417F-BA97-D677-769E55A7B465}"/>
              </a:ext>
            </a:extLst>
          </p:cNvPr>
          <p:cNvSpPr/>
          <p:nvPr/>
        </p:nvSpPr>
        <p:spPr>
          <a:xfrm>
            <a:off x="862255" y="4874635"/>
            <a:ext cx="2705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D653F"/>
                </a:solidFill>
              </a:rPr>
              <a:t>수익 모델</a:t>
            </a:r>
            <a:endParaRPr lang="en-US" sz="2800" b="1" dirty="0">
              <a:solidFill>
                <a:srgbClr val="1D65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027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07568E-4110-59DF-C840-0B2AFD33E1FD}"/>
              </a:ext>
            </a:extLst>
          </p:cNvPr>
          <p:cNvSpPr/>
          <p:nvPr/>
        </p:nvSpPr>
        <p:spPr>
          <a:xfrm>
            <a:off x="482484" y="447838"/>
            <a:ext cx="11296650" cy="1466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778583-BFE4-75B7-030A-C1D55A43B6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4349" y="6165451"/>
            <a:ext cx="320199" cy="320199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03A78269-2F79-C135-21FA-7D124A0C845A}"/>
              </a:ext>
            </a:extLst>
          </p:cNvPr>
          <p:cNvSpPr txBox="1"/>
          <p:nvPr/>
        </p:nvSpPr>
        <p:spPr>
          <a:xfrm>
            <a:off x="8494234" y="6146479"/>
            <a:ext cx="3284900" cy="33917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1800" b="1" dirty="0">
                <a:effectLst/>
              </a:rPr>
              <a:t>2026-</a:t>
            </a:r>
            <a:r>
              <a:rPr lang="ko-KR" altLang="en-US" sz="1800" b="1" dirty="0">
                <a:effectLst/>
              </a:rPr>
              <a:t>하계 세종창의학기제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07389DF-6CB7-475B-D703-7B6012C5EE42}"/>
              </a:ext>
            </a:extLst>
          </p:cNvPr>
          <p:cNvSpPr txBox="1">
            <a:spLocks/>
          </p:cNvSpPr>
          <p:nvPr/>
        </p:nvSpPr>
        <p:spPr>
          <a:xfrm>
            <a:off x="674448" y="704565"/>
            <a:ext cx="8761413" cy="806509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chemeClr val="bg1"/>
                </a:solidFill>
                <a:latin typeface="맑은 고딕"/>
                <a:ea typeface="맑은 고딕"/>
              </a:rPr>
              <a:t>참여학생별 총 학습시간 및 성과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117BE2-4B77-FA97-48B7-3A2753EDDC69}"/>
              </a:ext>
            </a:extLst>
          </p:cNvPr>
          <p:cNvCxnSpPr>
            <a:cxnSpLocks/>
          </p:cNvCxnSpPr>
          <p:nvPr/>
        </p:nvCxnSpPr>
        <p:spPr>
          <a:xfrm>
            <a:off x="482484" y="6067425"/>
            <a:ext cx="1129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부제목 2">
            <a:extLst>
              <a:ext uri="{FF2B5EF4-FFF2-40B4-BE49-F238E27FC236}">
                <a16:creationId xmlns:a16="http://schemas.microsoft.com/office/drawing/2014/main" id="{5FD32277-B69B-73D6-41DF-E32C5CA8EF1D}"/>
              </a:ext>
            </a:extLst>
          </p:cNvPr>
          <p:cNvSpPr txBox="1"/>
          <p:nvPr/>
        </p:nvSpPr>
        <p:spPr>
          <a:xfrm>
            <a:off x="834549" y="6146479"/>
            <a:ext cx="2051526" cy="33917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세종대학교</a:t>
            </a:r>
            <a:endParaRPr lang="ko-KR" altLang="en-US" sz="1800" b="1" dirty="0">
              <a:effectLst/>
            </a:endParaRP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33BD4EF2-D7FD-5C4E-5123-AC35583BA86B}"/>
              </a:ext>
            </a:extLst>
          </p:cNvPr>
          <p:cNvSpPr/>
          <p:nvPr/>
        </p:nvSpPr>
        <p:spPr>
          <a:xfrm rot="5400000">
            <a:off x="10290117" y="248121"/>
            <a:ext cx="1282584" cy="790574"/>
          </a:xfrm>
          <a:prstGeom prst="homePlat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025960F0-3E86-A7EC-0E2D-849949997B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05319" y="2360050"/>
          <a:ext cx="10250979" cy="3013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56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793">
                  <a:extLst>
                    <a:ext uri="{9D8B030D-6E8A-4147-A177-3AD203B41FA5}">
                      <a16:colId xmlns:a16="http://schemas.microsoft.com/office/drawing/2014/main" val="1700483513"/>
                    </a:ext>
                  </a:extLst>
                </a:gridCol>
                <a:gridCol w="4563688">
                  <a:extLst>
                    <a:ext uri="{9D8B030D-6E8A-4147-A177-3AD203B41FA5}">
                      <a16:colId xmlns:a16="http://schemas.microsoft.com/office/drawing/2014/main" val="2238236530"/>
                    </a:ext>
                  </a:extLst>
                </a:gridCol>
              </a:tblGrid>
              <a:tr h="48842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학습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성과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20">
                <a:tc>
                  <a:txBody>
                    <a:bodyPr/>
                    <a:lstStyle/>
                    <a:p>
                      <a:pPr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65">
                <a:tc>
                  <a:txBody>
                    <a:bodyPr/>
                    <a:lstStyle/>
                    <a:p>
                      <a:pPr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649">
                <a:tc>
                  <a:txBody>
                    <a:bodyPr/>
                    <a:lstStyle/>
                    <a:p>
                      <a:pPr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53">
                <a:tc>
                  <a:txBody>
                    <a:bodyPr/>
                    <a:lstStyle/>
                    <a:p>
                      <a:pPr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39019"/>
                  </a:ext>
                </a:extLst>
              </a:tr>
              <a:tr h="566373">
                <a:tc>
                  <a:txBody>
                    <a:bodyPr/>
                    <a:lstStyle/>
                    <a:p>
                      <a:pPr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ko-KR" altLang="en-US" sz="1400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21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127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"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2190415" cy="73152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"/>
          <p:cNvSpPr/>
          <p:nvPr/>
        </p:nvSpPr>
        <p:spPr>
          <a:xfrm>
            <a:off x="0" y="6784757"/>
            <a:ext cx="12190415" cy="73152"/>
          </a:xfrm>
          <a:prstGeom prst="rect">
            <a:avLst/>
          </a:prstGeom>
          <a:solidFill>
            <a:srgbClr val="E5D7BC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5"/>
          <p:cNvSpPr/>
          <p:nvPr/>
        </p:nvSpPr>
        <p:spPr>
          <a:xfrm>
            <a:off x="457200" y="5715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2800" b="1" dirty="0">
                <a:solidFill>
                  <a:srgbClr val="16261F"/>
                </a:solidFill>
              </a:rPr>
              <a:t>기술 구성과 데이터 흐름</a:t>
            </a:r>
            <a:endParaRPr lang="en-US" altLang="ko-KR" sz="2800" b="1" dirty="0">
              <a:solidFill>
                <a:srgbClr val="16261F"/>
              </a:solidFill>
            </a:endParaRPr>
          </a:p>
        </p:txBody>
      </p:sp>
      <p:sp>
        <p:nvSpPr>
          <p:cNvPr id="104" name="Text 6"/>
          <p:cNvSpPr/>
          <p:nvPr/>
        </p:nvSpPr>
        <p:spPr>
          <a:xfrm>
            <a:off x="484632" y="1046988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280" dirty="0">
                <a:solidFill>
                  <a:srgbClr val="6F776F"/>
                </a:solidFill>
              </a:rPr>
              <a:t>IDENTIQ는 앱 화면, 백엔드 API, 데이터, 공공 오픈 API 네 계층으로 구성됩니다.</a:t>
            </a:r>
            <a:endParaRPr lang="en-US" altLang="ko-KR" sz="1280" dirty="0">
              <a:solidFill>
                <a:srgbClr val="6F776F"/>
              </a:solidFill>
            </a:endParaRPr>
          </a:p>
        </p:txBody>
      </p:sp>
      <p:sp>
        <p:nvSpPr>
          <p:cNvPr id="105" name="Shape 7"/>
          <p:cNvSpPr/>
          <p:nvPr/>
        </p:nvSpPr>
        <p:spPr>
          <a:xfrm>
            <a:off x="457200" y="1376172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8"/>
          <p:cNvSpPr/>
          <p:nvPr/>
        </p:nvSpPr>
        <p:spPr>
          <a:xfrm>
            <a:off x="502920" y="1783080"/>
            <a:ext cx="2514600" cy="187452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8"/>
          <p:cNvSpPr/>
          <p:nvPr/>
        </p:nvSpPr>
        <p:spPr>
          <a:xfrm>
            <a:off x="3392424" y="1783080"/>
            <a:ext cx="2514600" cy="187452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8"/>
          <p:cNvSpPr/>
          <p:nvPr/>
        </p:nvSpPr>
        <p:spPr>
          <a:xfrm>
            <a:off x="6281928" y="1783080"/>
            <a:ext cx="2514600" cy="187452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8"/>
          <p:cNvSpPr/>
          <p:nvPr/>
        </p:nvSpPr>
        <p:spPr>
          <a:xfrm>
            <a:off x="9171432" y="1783080"/>
            <a:ext cx="2514600" cy="187452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Badge"/>
          <p:cNvSpPr/>
          <p:nvPr/>
        </p:nvSpPr>
        <p:spPr>
          <a:xfrm>
            <a:off x="704088" y="19385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Badge"/>
          <p:cNvSpPr/>
          <p:nvPr/>
        </p:nvSpPr>
        <p:spPr>
          <a:xfrm>
            <a:off x="704088" y="19385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50" b="1" dirty="0">
                <a:solidFill>
                  <a:srgbClr val="FFFFFF"/>
                </a:solidFill>
              </a:rPr>
              <a:t>화면</a:t>
            </a:r>
            <a:endParaRPr lang="en-US" altLang="ko-KR" sz="850" b="1" dirty="0">
              <a:solidFill>
                <a:srgbClr val="FFFFFF"/>
              </a:solidFill>
            </a:endParaRPr>
          </a:p>
        </p:txBody>
      </p:sp>
      <p:sp>
        <p:nvSpPr>
          <p:cNvPr id="112" name="Text Head"/>
          <p:cNvSpPr/>
          <p:nvPr/>
        </p:nvSpPr>
        <p:spPr>
          <a:xfrm>
            <a:off x="704088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E7D57"/>
                </a:solidFill>
              </a:rPr>
              <a:t>클라이언트</a:t>
            </a:r>
            <a:endParaRPr lang="en-US" altLang="ko-KR" sz="1600" b="1" dirty="0">
              <a:solidFill>
                <a:srgbClr val="2E7D57"/>
              </a:solidFill>
            </a:endParaRPr>
          </a:p>
        </p:txBody>
      </p:sp>
      <p:sp>
        <p:nvSpPr>
          <p:cNvPr id="113" name="Shape 7"/>
          <p:cNvSpPr/>
          <p:nvPr/>
        </p:nvSpPr>
        <p:spPr>
          <a:xfrm>
            <a:off x="704088" y="2798064"/>
            <a:ext cx="2112264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Body"/>
          <p:cNvSpPr/>
          <p:nvPr/>
        </p:nvSpPr>
        <p:spPr>
          <a:xfrm>
            <a:off x="704088" y="29077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React 18 · TypeScript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Vite 6 · Tailwind CSS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Capacitor 8 · Android</a:t>
            </a:r>
            <a:endParaRPr lang="en-US" altLang="ko-KR" sz="1100" dirty="0">
              <a:solidFill>
                <a:srgbClr val="6F776F"/>
              </a:solidFill>
            </a:endParaRPr>
          </a:p>
        </p:txBody>
      </p:sp>
      <p:sp>
        <p:nvSpPr>
          <p:cNvPr id="115" name="Shape Badge"/>
          <p:cNvSpPr/>
          <p:nvPr/>
        </p:nvSpPr>
        <p:spPr>
          <a:xfrm>
            <a:off x="3593592" y="19385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Badge"/>
          <p:cNvSpPr/>
          <p:nvPr/>
        </p:nvSpPr>
        <p:spPr>
          <a:xfrm>
            <a:off x="3593592" y="19385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50" b="1" dirty="0">
                <a:solidFill>
                  <a:srgbClr val="FFFFFF"/>
                </a:solidFill>
              </a:rPr>
              <a:t>서버</a:t>
            </a:r>
            <a:endParaRPr lang="en-US" altLang="ko-KR" sz="850" b="1" dirty="0">
              <a:solidFill>
                <a:srgbClr val="FFFFFF"/>
              </a:solidFill>
            </a:endParaRPr>
          </a:p>
        </p:txBody>
      </p:sp>
      <p:sp>
        <p:nvSpPr>
          <p:cNvPr id="117" name="Text Head"/>
          <p:cNvSpPr/>
          <p:nvPr/>
        </p:nvSpPr>
        <p:spPr>
          <a:xfrm>
            <a:off x="3593592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E7D57"/>
                </a:solidFill>
              </a:rPr>
              <a:t>백엔드 API</a:t>
            </a:r>
            <a:endParaRPr lang="en-US" altLang="ko-KR" sz="1600" b="1" dirty="0">
              <a:solidFill>
                <a:srgbClr val="2E7D57"/>
              </a:solidFill>
            </a:endParaRPr>
          </a:p>
        </p:txBody>
      </p:sp>
      <p:sp>
        <p:nvSpPr>
          <p:cNvPr id="118" name="Shape 7"/>
          <p:cNvSpPr/>
          <p:nvPr/>
        </p:nvSpPr>
        <p:spPr>
          <a:xfrm>
            <a:off x="3593592" y="2798064"/>
            <a:ext cx="2112264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Body"/>
          <p:cNvSpPr/>
          <p:nvPr/>
        </p:nvSpPr>
        <p:spPr>
          <a:xfrm>
            <a:off x="3593592" y="29077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Node.js · Express 4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추천 · 자격 판정 로직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만기 수령액 계산</a:t>
            </a:r>
            <a:endParaRPr lang="en-US" altLang="ko-KR" sz="1100" dirty="0">
              <a:solidFill>
                <a:srgbClr val="6F776F"/>
              </a:solidFill>
            </a:endParaRPr>
          </a:p>
        </p:txBody>
      </p:sp>
      <p:sp>
        <p:nvSpPr>
          <p:cNvPr id="120" name="Shape Badge"/>
          <p:cNvSpPr/>
          <p:nvPr/>
        </p:nvSpPr>
        <p:spPr>
          <a:xfrm>
            <a:off x="6483096" y="19385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Badge"/>
          <p:cNvSpPr/>
          <p:nvPr/>
        </p:nvSpPr>
        <p:spPr>
          <a:xfrm>
            <a:off x="6483096" y="19385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50" b="1" dirty="0">
                <a:solidFill>
                  <a:srgbClr val="FFFFFF"/>
                </a:solidFill>
              </a:rPr>
              <a:t>데이터</a:t>
            </a:r>
            <a:endParaRPr lang="en-US" altLang="ko-KR" sz="850" b="1" dirty="0">
              <a:solidFill>
                <a:srgbClr val="FFFFFF"/>
              </a:solidFill>
            </a:endParaRPr>
          </a:p>
        </p:txBody>
      </p:sp>
      <p:sp>
        <p:nvSpPr>
          <p:cNvPr id="122" name="Text Head"/>
          <p:cNvSpPr/>
          <p:nvPr/>
        </p:nvSpPr>
        <p:spPr>
          <a:xfrm>
            <a:off x="6483096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E7D57"/>
                </a:solidFill>
              </a:rPr>
              <a:t>저장 · 인증</a:t>
            </a:r>
            <a:endParaRPr lang="en-US" altLang="ko-KR" sz="1600" b="1" dirty="0">
              <a:solidFill>
                <a:srgbClr val="2E7D57"/>
              </a:solidFill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483096" y="2798064"/>
            <a:ext cx="2112264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Body"/>
          <p:cNvSpPr/>
          <p:nvPr/>
        </p:nvSpPr>
        <p:spPr>
          <a:xfrm>
            <a:off x="6483096" y="29077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Supabase PostgreSQL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Google OAuth · JWT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사용자별 접근 검증</a:t>
            </a:r>
            <a:endParaRPr lang="en-US" altLang="ko-KR" sz="1100" dirty="0">
              <a:solidFill>
                <a:srgbClr val="6F776F"/>
              </a:solidFill>
            </a:endParaRPr>
          </a:p>
        </p:txBody>
      </p:sp>
      <p:sp>
        <p:nvSpPr>
          <p:cNvPr id="125" name="Shape Badge"/>
          <p:cNvSpPr/>
          <p:nvPr/>
        </p:nvSpPr>
        <p:spPr>
          <a:xfrm>
            <a:off x="9372600" y="19385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Badge"/>
          <p:cNvSpPr/>
          <p:nvPr/>
        </p:nvSpPr>
        <p:spPr>
          <a:xfrm>
            <a:off x="9372600" y="19385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50" b="1" dirty="0">
                <a:solidFill>
                  <a:srgbClr val="FFFFFF"/>
                </a:solidFill>
              </a:rPr>
              <a:t>외부</a:t>
            </a:r>
            <a:endParaRPr lang="en-US" altLang="ko-KR" sz="850" b="1" dirty="0">
              <a:solidFill>
                <a:srgbClr val="FFFFFF"/>
              </a:solidFill>
            </a:endParaRPr>
          </a:p>
        </p:txBody>
      </p:sp>
      <p:sp>
        <p:nvSpPr>
          <p:cNvPr id="127" name="Text Head"/>
          <p:cNvSpPr/>
          <p:nvPr/>
        </p:nvSpPr>
        <p:spPr>
          <a:xfrm>
            <a:off x="9372600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E7D57"/>
                </a:solidFill>
              </a:rPr>
              <a:t>공공 오픈 API</a:t>
            </a:r>
            <a:endParaRPr lang="en-US" altLang="ko-KR" sz="1600" b="1" dirty="0">
              <a:solidFill>
                <a:srgbClr val="2E7D57"/>
              </a:solidFill>
            </a:endParaRPr>
          </a:p>
        </p:txBody>
      </p:sp>
      <p:sp>
        <p:nvSpPr>
          <p:cNvPr id="128" name="Shape 7"/>
          <p:cNvSpPr/>
          <p:nvPr/>
        </p:nvSpPr>
        <p:spPr>
          <a:xfrm>
            <a:off x="9372600" y="2798064"/>
            <a:ext cx="2112264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Body"/>
          <p:cNvSpPr/>
          <p:nvPr/>
        </p:nvSpPr>
        <p:spPr>
          <a:xfrm>
            <a:off x="9372600" y="2907792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금융감독원 finlife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온통청년 정책 API</a:t>
            </a:r>
            <a:endParaRPr lang="en-US" altLang="ko-KR" sz="11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6F776F"/>
                </a:solidFill>
              </a:rPr>
              <a:t>주기적 상품 동기화</a:t>
            </a:r>
            <a:endParaRPr lang="en-US" altLang="ko-KR" sz="1100" dirty="0">
              <a:solidFill>
                <a:srgbClr val="6F776F"/>
              </a:solidFill>
            </a:endParaRPr>
          </a:p>
        </p:txBody>
      </p:sp>
      <p:sp>
        <p:nvSpPr>
          <p:cNvPr id="130" name="화살표: 오른쪽"/>
          <p:cNvSpPr/>
          <p:nvPr/>
        </p:nvSpPr>
        <p:spPr>
          <a:xfrm>
            <a:off x="3060497" y="2569007"/>
            <a:ext cx="288758" cy="302663"/>
          </a:xfrm>
          <a:prstGeom prst="rightArrow">
            <a:avLst/>
          </a:prstGeom>
          <a:solidFill>
            <a:srgbClr val="1D653F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화살표: 오른쪽"/>
          <p:cNvSpPr/>
          <p:nvPr/>
        </p:nvSpPr>
        <p:spPr>
          <a:xfrm>
            <a:off x="5950001" y="2569007"/>
            <a:ext cx="288758" cy="302663"/>
          </a:xfrm>
          <a:prstGeom prst="rightArrow">
            <a:avLst/>
          </a:prstGeom>
          <a:solidFill>
            <a:srgbClr val="1D653F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화살표: 오른쪽"/>
          <p:cNvSpPr/>
          <p:nvPr/>
        </p:nvSpPr>
        <p:spPr>
          <a:xfrm>
            <a:off x="8839505" y="2569007"/>
            <a:ext cx="288758" cy="302663"/>
          </a:xfrm>
          <a:prstGeom prst="rightArrow">
            <a:avLst/>
          </a:prstGeom>
          <a:solidFill>
            <a:srgbClr val="1D653F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Shape 8"/>
          <p:cNvSpPr/>
          <p:nvPr/>
        </p:nvSpPr>
        <p:spPr>
          <a:xfrm>
            <a:off x="502920" y="4160520"/>
            <a:ext cx="3566160" cy="109728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8"/>
          <p:cNvSpPr/>
          <p:nvPr/>
        </p:nvSpPr>
        <p:spPr>
          <a:xfrm>
            <a:off x="4311396" y="4160520"/>
            <a:ext cx="3566160" cy="109728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8"/>
          <p:cNvSpPr/>
          <p:nvPr/>
        </p:nvSpPr>
        <p:spPr>
          <a:xfrm>
            <a:off x="8119872" y="4160520"/>
            <a:ext cx="3566160" cy="1097280"/>
          </a:xfrm>
          <a:prstGeom prst="roundRect">
            <a:avLst>
              <a:gd name="adj" fmla="val 6107"/>
            </a:avLst>
          </a:prstGeom>
          <a:solidFill>
            <a:srgbClr val="FFF9EA"/>
          </a:solidFill>
          <a:ln w="10160">
            <a:solidFill>
              <a:srgbClr val="CDBE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Dot"/>
          <p:cNvSpPr/>
          <p:nvPr/>
        </p:nvSpPr>
        <p:spPr>
          <a:xfrm>
            <a:off x="722376" y="4402836"/>
            <a:ext cx="118872" cy="11887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Box"/>
          <p:cNvSpPr/>
          <p:nvPr/>
        </p:nvSpPr>
        <p:spPr>
          <a:xfrm>
            <a:off x="923544" y="434340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6261F"/>
                </a:solidFill>
              </a:rPr>
              <a:t>테스트 · 검증</a:t>
            </a:r>
            <a:endParaRPr lang="en-US" altLang="ko-KR" sz="1200" b="1" dirty="0">
              <a:solidFill>
                <a:srgbClr val="16261F"/>
              </a:solidFill>
            </a:endParaRPr>
          </a:p>
        </p:txBody>
      </p:sp>
      <p:sp>
        <p:nvSpPr>
          <p:cNvPr id="138" name="Text Box Body"/>
          <p:cNvSpPr/>
          <p:nvPr/>
        </p:nvSpPr>
        <p:spPr>
          <a:xfrm>
            <a:off x="923544" y="46268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백엔드 테스트 34개, 타입 검사, 빌드를</a:t>
            </a:r>
            <a:endParaRPr lang="en-US" altLang="ko-KR" sz="10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GitHub Actions에서 자동 실행</a:t>
            </a:r>
            <a:endParaRPr lang="en-US" altLang="ko-KR" sz="1000" dirty="0">
              <a:solidFill>
                <a:srgbClr val="6F776F"/>
              </a:solidFill>
            </a:endParaRPr>
          </a:p>
        </p:txBody>
      </p:sp>
      <p:sp>
        <p:nvSpPr>
          <p:cNvPr id="139" name="Shape Dot"/>
          <p:cNvSpPr/>
          <p:nvPr/>
        </p:nvSpPr>
        <p:spPr>
          <a:xfrm>
            <a:off x="4530852" y="4402836"/>
            <a:ext cx="118872" cy="11887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Box"/>
          <p:cNvSpPr/>
          <p:nvPr/>
        </p:nvSpPr>
        <p:spPr>
          <a:xfrm>
            <a:off x="4732020" y="434340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6261F"/>
                </a:solidFill>
              </a:rPr>
              <a:t>배포 · 빌드</a:t>
            </a:r>
            <a:endParaRPr lang="en-US" altLang="ko-KR" sz="1200" b="1" dirty="0">
              <a:solidFill>
                <a:srgbClr val="16261F"/>
              </a:solidFill>
            </a:endParaRPr>
          </a:p>
        </p:txBody>
      </p:sp>
      <p:sp>
        <p:nvSpPr>
          <p:cNvPr id="141" name="Text Box Body"/>
          <p:cNvSpPr/>
          <p:nvPr/>
        </p:nvSpPr>
        <p:spPr>
          <a:xfrm>
            <a:off x="4732020" y="46268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Render로 웹과 백엔드를 함께 배포하고</a:t>
            </a:r>
            <a:endParaRPr lang="en-US" altLang="ko-KR" sz="10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Capacitor로 Android APK 빌드</a:t>
            </a:r>
            <a:endParaRPr lang="en-US" altLang="ko-KR" sz="1000" dirty="0">
              <a:solidFill>
                <a:srgbClr val="6F776F"/>
              </a:solidFill>
            </a:endParaRPr>
          </a:p>
        </p:txBody>
      </p:sp>
      <p:sp>
        <p:nvSpPr>
          <p:cNvPr id="142" name="Shape Dot"/>
          <p:cNvSpPr/>
          <p:nvPr/>
        </p:nvSpPr>
        <p:spPr>
          <a:xfrm>
            <a:off x="8339328" y="4402836"/>
            <a:ext cx="118872" cy="11887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Box"/>
          <p:cNvSpPr/>
          <p:nvPr/>
        </p:nvSpPr>
        <p:spPr>
          <a:xfrm>
            <a:off x="8540496" y="434340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6261F"/>
                </a:solidFill>
              </a:rPr>
              <a:t>보안 설계</a:t>
            </a:r>
            <a:endParaRPr lang="en-US" altLang="ko-KR" sz="1200" b="1" dirty="0">
              <a:solidFill>
                <a:srgbClr val="16261F"/>
              </a:solidFill>
            </a:endParaRPr>
          </a:p>
        </p:txBody>
      </p:sp>
      <p:sp>
        <p:nvSpPr>
          <p:cNvPr id="144" name="Text Box Body"/>
          <p:cNvSpPr/>
          <p:nvPr/>
        </p:nvSpPr>
        <p:spPr>
          <a:xfrm>
            <a:off x="8540496" y="46268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전체 권한 키는 백엔드에만 보관하고</a:t>
            </a:r>
            <a:endParaRPr lang="en-US" altLang="ko-KR" sz="1000" dirty="0">
              <a:solidFill>
                <a:srgbClr val="6F776F"/>
              </a:solidFill>
            </a:endParaRPr>
          </a:p>
          <a:p>
            <a:pPr marL="0" indent="0">
              <a:buNone/>
            </a:pPr>
            <a:r>
              <a:rPr lang="en-US" altLang="ko-KR" sz="1000" dirty="0">
                <a:solidFill>
                  <a:srgbClr val="6F776F"/>
                </a:solidFill>
              </a:rPr>
              <a:t>토큰의 사용자와 요청 대상이 다르면 차단</a:t>
            </a:r>
            <a:endParaRPr lang="en-US" altLang="ko-KR" sz="1000" dirty="0">
              <a:solidFill>
                <a:srgbClr val="6F776F"/>
              </a:solidFill>
            </a:endParaRPr>
          </a:p>
        </p:txBody>
      </p:sp>
      <p:sp>
        <p:nvSpPr>
          <p:cNvPr id="145" name="Shape 7"/>
          <p:cNvSpPr/>
          <p:nvPr/>
        </p:nvSpPr>
        <p:spPr>
          <a:xfrm>
            <a:off x="658368" y="5532120"/>
            <a:ext cx="10881360" cy="0"/>
          </a:xfrm>
          <a:prstGeom prst="line">
            <a:avLst/>
          </a:prstGeom>
          <a:noFill/>
          <a:ln w="12700">
            <a:solidFill>
              <a:srgbClr val="CDBE9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5"/>
          <p:cNvSpPr/>
          <p:nvPr/>
        </p:nvSpPr>
        <p:spPr>
          <a:xfrm>
            <a:off x="1234440" y="5715000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2000" b="1" dirty="0">
                <a:solidFill>
                  <a:srgbClr val="2E7D57"/>
                </a:solidFill>
              </a:rPr>
              <a:t>추천 결과의 신뢰는 데이터를 가져오는 구조에서 나온다.</a:t>
            </a:r>
            <a:endParaRPr lang="en-US" altLang="ko-KR" sz="2000" b="1" dirty="0">
              <a:solidFill>
                <a:srgbClr val="2E7D57"/>
              </a:solidFill>
            </a:endParaRPr>
          </a:p>
        </p:txBody>
      </p:sp>
      <p:sp>
        <p:nvSpPr>
          <p:cNvPr id="147" name="Text 2"/>
          <p:cNvSpPr/>
          <p:nvPr/>
        </p:nvSpPr>
        <p:spPr>
          <a:xfrm>
            <a:off x="9646920" y="647303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altLang="ko-KR" sz="750" dirty="0">
                <a:solidFill>
                  <a:srgbClr val="6F776F"/>
                </a:solidFill>
              </a:rPr>
              <a:t>IDENTIQ · 기술</a:t>
            </a:r>
            <a:endParaRPr lang="en-US" altLang="ko-KR" sz="750" dirty="0">
              <a:solidFill>
                <a:srgbClr val="6F776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825</Words>
  <Application>Microsoft Office PowerPoint</Application>
  <PresentationFormat>와이드스크린</PresentationFormat>
  <Paragraphs>173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Noto Sans CJK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IDENTIQ 최종 발표 - UI UX 파트 재설계</dc:title>
  <dc:subject>IDENTIQ Final Presentation UI UX Section Redesign</dc:subject>
  <dc:creator>OpenAI</dc:creator>
  <cp:lastModifiedBy>승훈 유</cp:lastModifiedBy>
  <cp:revision>4</cp:revision>
  <dcterms:created xsi:type="dcterms:W3CDTF">2026-08-03T14:32:01Z</dcterms:created>
  <dcterms:modified xsi:type="dcterms:W3CDTF">2026-08-04T01:55:07Z</dcterms:modified>
</cp:coreProperties>
</file>